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313" r:id="rId2"/>
    <p:sldId id="318" r:id="rId3"/>
    <p:sldId id="323" r:id="rId4"/>
    <p:sldId id="324" r:id="rId5"/>
    <p:sldId id="325" r:id="rId6"/>
    <p:sldId id="326" r:id="rId7"/>
    <p:sldId id="327" r:id="rId8"/>
    <p:sldId id="328" r:id="rId9"/>
    <p:sldId id="32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13105"/>
    <a:srgbClr val="AB099F"/>
    <a:srgbClr val="942092"/>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4D0945-FC8F-4312-B961-7E04E0DB42FA}" v="26" dt="2025-11-20T09:35:45.3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01" autoAdjust="0"/>
    <p:restoredTop sz="90176" autoAdjust="0"/>
  </p:normalViewPr>
  <p:slideViewPr>
    <p:cSldViewPr snapToGrid="0" snapToObjects="1">
      <p:cViewPr varScale="1">
        <p:scale>
          <a:sx n="74" d="100"/>
          <a:sy n="74" d="100"/>
        </p:scale>
        <p:origin x="802" y="7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55" d="100"/>
          <a:sy n="55" d="100"/>
        </p:scale>
        <p:origin x="-285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35F9AA-0D9F-B447-8778-CD947F5D5D3B}" type="datetimeFigureOut">
              <a:rPr lang="en-US" smtClean="0"/>
              <a:pPr/>
              <a:t>11/20/2025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810384-F5DC-3441-BEC1-ECE50803618C}" type="slidenum">
              <a:rPr lang="en-US" smtClean="0"/>
              <a:pPr/>
              <a:t>‹#›</a:t>
            </a:fld>
            <a:endParaRPr lang="en-US" dirty="0"/>
          </a:p>
        </p:txBody>
      </p:sp>
    </p:spTree>
    <p:extLst>
      <p:ext uri="{BB962C8B-B14F-4D97-AF65-F5344CB8AC3E}">
        <p14:creationId xmlns:p14="http://schemas.microsoft.com/office/powerpoint/2010/main" val="1888313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810384-F5DC-3441-BEC1-ECE50803618C}" type="slidenum">
              <a:rPr lang="en-US" smtClean="0"/>
              <a:pPr/>
              <a:t>1</a:t>
            </a:fld>
            <a:endParaRPr lang="en-US" dirty="0"/>
          </a:p>
        </p:txBody>
      </p:sp>
    </p:spTree>
    <p:extLst>
      <p:ext uri="{BB962C8B-B14F-4D97-AF65-F5344CB8AC3E}">
        <p14:creationId xmlns:p14="http://schemas.microsoft.com/office/powerpoint/2010/main" val="36191592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167E4-4561-EC49-B97F-6D6BCC9E0471}"/>
              </a:ext>
            </a:extLst>
          </p:cNvPr>
          <p:cNvSpPr>
            <a:spLocks noGrp="1"/>
          </p:cNvSpPr>
          <p:nvPr>
            <p:ph type="ctrTitle" hasCustomPrompt="1"/>
          </p:nvPr>
        </p:nvSpPr>
        <p:spPr>
          <a:xfrm>
            <a:off x="1074821" y="2019581"/>
            <a:ext cx="9144000" cy="2327131"/>
          </a:xfrm>
        </p:spPr>
        <p:txBody>
          <a:bodyPr anchor="ctr" anchorCtr="0">
            <a:normAutofit/>
          </a:bodyPr>
          <a:lstStyle>
            <a:lvl1pPr algn="l">
              <a:defRPr sz="3000" b="0" i="0">
                <a:solidFill>
                  <a:srgbClr val="C00000"/>
                </a:solidFill>
                <a:latin typeface="Arial Narrow" panose="020B0604020202020204" pitchFamily="34" charset="0"/>
                <a:cs typeface="Arial Narrow" panose="020B0604020202020204" pitchFamily="34" charset="0"/>
              </a:defRPr>
            </a:lvl1pPr>
          </a:lstStyle>
          <a:p>
            <a:r>
              <a:rPr lang="en-GB" dirty="0"/>
              <a:t>Click here to edit the title of the course</a:t>
            </a:r>
            <a:br>
              <a:rPr lang="en-GB" dirty="0"/>
            </a:br>
            <a:r>
              <a:rPr lang="en-GB" dirty="0"/>
              <a:t>Click here to edit the topic</a:t>
            </a:r>
            <a:br>
              <a:rPr lang="en-GB" dirty="0"/>
            </a:br>
            <a:br>
              <a:rPr lang="en-GB" dirty="0"/>
            </a:br>
            <a:br>
              <a:rPr lang="en-GB" dirty="0"/>
            </a:br>
            <a:r>
              <a:rPr lang="en-GB" dirty="0"/>
              <a:t>Click here to edit the name</a:t>
            </a:r>
            <a:br>
              <a:rPr lang="en-GB" dirty="0"/>
            </a:br>
            <a:r>
              <a:rPr lang="en-GB" dirty="0"/>
              <a:t>Click here to edit the department</a:t>
            </a:r>
            <a:endParaRPr lang="en-US" dirty="0"/>
          </a:p>
        </p:txBody>
      </p:sp>
      <p:sp>
        <p:nvSpPr>
          <p:cNvPr id="4" name="Date Placeholder 3">
            <a:extLst>
              <a:ext uri="{FF2B5EF4-FFF2-40B4-BE49-F238E27FC236}">
                <a16:creationId xmlns:a16="http://schemas.microsoft.com/office/drawing/2014/main" id="{17A63FD1-CC9C-4442-B1EE-D2F4C914AFD9}"/>
              </a:ext>
            </a:extLst>
          </p:cNvPr>
          <p:cNvSpPr>
            <a:spLocks noGrp="1"/>
          </p:cNvSpPr>
          <p:nvPr>
            <p:ph type="dt" sz="half" idx="10"/>
          </p:nvPr>
        </p:nvSpPr>
        <p:spPr/>
        <p:txBody>
          <a:bodyPr/>
          <a:lstStyle/>
          <a:p>
            <a:fld id="{5CFB758E-561A-4CEA-9FC0-BA544BE9C34C}" type="datetime1">
              <a:rPr lang="en-US" smtClean="0"/>
              <a:pPr/>
              <a:t>11/20/2025</a:t>
            </a:fld>
            <a:endParaRPr lang="en-US" dirty="0"/>
          </a:p>
        </p:txBody>
      </p:sp>
      <p:sp>
        <p:nvSpPr>
          <p:cNvPr id="5" name="Footer Placeholder 4">
            <a:extLst>
              <a:ext uri="{FF2B5EF4-FFF2-40B4-BE49-F238E27FC236}">
                <a16:creationId xmlns:a16="http://schemas.microsoft.com/office/drawing/2014/main" id="{FD009E43-323D-0142-92B1-C20EAE24D7C1}"/>
              </a:ext>
            </a:extLst>
          </p:cNvPr>
          <p:cNvSpPr>
            <a:spLocks noGrp="1"/>
          </p:cNvSpPr>
          <p:nvPr>
            <p:ph type="ftr" sz="quarter" idx="11"/>
          </p:nvPr>
        </p:nvSpPr>
        <p:spPr>
          <a:xfrm>
            <a:off x="0" y="0"/>
            <a:ext cx="838200" cy="6858000"/>
          </a:xfrm>
        </p:spPr>
        <p:txBody>
          <a:bodyPr/>
          <a:lstStyle/>
          <a:p>
            <a:endParaRPr lang="en-US" dirty="0"/>
          </a:p>
        </p:txBody>
      </p:sp>
      <p:sp>
        <p:nvSpPr>
          <p:cNvPr id="6" name="Slide Number Placeholder 5">
            <a:extLst>
              <a:ext uri="{FF2B5EF4-FFF2-40B4-BE49-F238E27FC236}">
                <a16:creationId xmlns:a16="http://schemas.microsoft.com/office/drawing/2014/main" id="{EF3AE0EE-FDFB-6941-9E38-019DD213FA8E}"/>
              </a:ext>
            </a:extLst>
          </p:cNvPr>
          <p:cNvSpPr>
            <a:spLocks noGrp="1"/>
          </p:cNvSpPr>
          <p:nvPr>
            <p:ph type="sldNum" sz="quarter" idx="12"/>
          </p:nvPr>
        </p:nvSpPr>
        <p:spPr/>
        <p:txBody>
          <a:bodyPr/>
          <a:lstStyle/>
          <a:p>
            <a:fld id="{35103E41-D638-594C-8347-57CCA9BD2261}" type="slidenum">
              <a:rPr lang="en-US" smtClean="0"/>
              <a:pPr/>
              <a:t>‹#›</a:t>
            </a:fld>
            <a:endParaRPr lang="en-US" dirty="0"/>
          </a:p>
        </p:txBody>
      </p:sp>
      <p:cxnSp>
        <p:nvCxnSpPr>
          <p:cNvPr id="16" name="Straight Connector 15">
            <a:extLst>
              <a:ext uri="{FF2B5EF4-FFF2-40B4-BE49-F238E27FC236}">
                <a16:creationId xmlns:a16="http://schemas.microsoft.com/office/drawing/2014/main" id="{D22CC1AB-FDC5-454B-9B64-E388AAEF15AB}"/>
              </a:ext>
            </a:extLst>
          </p:cNvPr>
          <p:cNvCxnSpPr>
            <a:cxnSpLocks/>
          </p:cNvCxnSpPr>
          <p:nvPr userDrawn="1"/>
        </p:nvCxnSpPr>
        <p:spPr>
          <a:xfrm>
            <a:off x="1074821" y="730850"/>
            <a:ext cx="4432226" cy="5750"/>
          </a:xfrm>
          <a:prstGeom prst="line">
            <a:avLst/>
          </a:prstGeom>
          <a:ln>
            <a:solidFill>
              <a:srgbClr val="942092"/>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58C4B1C-B62C-1849-9506-01D920A96E0C}"/>
              </a:ext>
            </a:extLst>
          </p:cNvPr>
          <p:cNvSpPr txBox="1"/>
          <p:nvPr userDrawn="1"/>
        </p:nvSpPr>
        <p:spPr>
          <a:xfrm>
            <a:off x="1074821" y="348686"/>
            <a:ext cx="4751540" cy="307777"/>
          </a:xfrm>
          <a:prstGeom prst="rect">
            <a:avLst/>
          </a:prstGeom>
          <a:noFill/>
        </p:spPr>
        <p:txBody>
          <a:bodyPr wrap="square" rtlCol="0">
            <a:spAutoFit/>
          </a:bodyPr>
          <a:lstStyle/>
          <a:p>
            <a:pPr algn="l"/>
            <a:r>
              <a:rPr lang="en-US" sz="1400" b="0" i="0" dirty="0">
                <a:solidFill>
                  <a:srgbClr val="7030A0"/>
                </a:solidFill>
                <a:latin typeface="Arial Narrow" panose="020B0604020202020204" pitchFamily="34" charset="0"/>
                <a:cs typeface="Arial Narrow" panose="020B0604020202020204" pitchFamily="34" charset="0"/>
              </a:rPr>
              <a:t>Nadimpalli Satyanarayana Raju Institute of Technology (NSRIT)</a:t>
            </a:r>
          </a:p>
        </p:txBody>
      </p:sp>
      <p:pic>
        <p:nvPicPr>
          <p:cNvPr id="47" name="Picture 46" descr="Shape&#10;&#10;Description automatically generated">
            <a:extLst>
              <a:ext uri="{FF2B5EF4-FFF2-40B4-BE49-F238E27FC236}">
                <a16:creationId xmlns:a16="http://schemas.microsoft.com/office/drawing/2014/main" id="{EA23326B-D696-FF4C-B0F1-A513AE79AC16}"/>
              </a:ext>
            </a:extLst>
          </p:cNvPr>
          <p:cNvPicPr>
            <a:picLocks noChangeAspect="1"/>
          </p:cNvPicPr>
          <p:nvPr userDrawn="1"/>
        </p:nvPicPr>
        <p:blipFill>
          <a:blip r:embed="rId2"/>
          <a:stretch>
            <a:fillRect/>
          </a:stretch>
        </p:blipFill>
        <p:spPr>
          <a:xfrm>
            <a:off x="0" y="-18000"/>
            <a:ext cx="889000" cy="6893999"/>
          </a:xfrm>
          <a:prstGeom prst="rect">
            <a:avLst/>
          </a:prstGeom>
        </p:spPr>
      </p:pic>
      <p:pic>
        <p:nvPicPr>
          <p:cNvPr id="48" name="Picture 2" descr="Nadimpalli Satyanarayana Raju Institute of Technology (NSRIT), Visakhapatnam">
            <a:extLst>
              <a:ext uri="{FF2B5EF4-FFF2-40B4-BE49-F238E27FC236}">
                <a16:creationId xmlns:a16="http://schemas.microsoft.com/office/drawing/2014/main" id="{4BEB89AB-B6AF-4D4D-A36C-4E1E7E0ABD3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8105" y="6072630"/>
            <a:ext cx="632790" cy="283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371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8254817-4F0C-1E40-AA26-413D4B5CABD4}"/>
              </a:ext>
            </a:extLst>
          </p:cNvPr>
          <p:cNvSpPr>
            <a:spLocks noGrp="1"/>
          </p:cNvSpPr>
          <p:nvPr>
            <p:ph type="dt" sz="half" idx="10"/>
          </p:nvPr>
        </p:nvSpPr>
        <p:spPr/>
        <p:txBody>
          <a:bodyPr/>
          <a:lstStyle/>
          <a:p>
            <a:fld id="{04DDC92C-9713-492E-9F3F-98977C0D4FF8}" type="datetime1">
              <a:rPr lang="en-US" smtClean="0"/>
              <a:pPr/>
              <a:t>11/20/2025</a:t>
            </a:fld>
            <a:endParaRPr lang="en-US" dirty="0"/>
          </a:p>
        </p:txBody>
      </p:sp>
      <p:sp>
        <p:nvSpPr>
          <p:cNvPr id="4" name="Footer Placeholder 3">
            <a:extLst>
              <a:ext uri="{FF2B5EF4-FFF2-40B4-BE49-F238E27FC236}">
                <a16:creationId xmlns:a16="http://schemas.microsoft.com/office/drawing/2014/main" id="{0C907883-056B-524A-9B17-4D25EC6AAAC7}"/>
              </a:ext>
            </a:extLst>
          </p:cNvPr>
          <p:cNvSpPr>
            <a:spLocks noGrp="1"/>
          </p:cNvSpPr>
          <p:nvPr>
            <p:ph type="ftr" sz="quarter" idx="11"/>
          </p:nvPr>
        </p:nvSpPr>
        <p:spPr>
          <a:xfrm>
            <a:off x="0" y="1"/>
            <a:ext cx="1020417" cy="6858000"/>
          </a:xfrm>
        </p:spPr>
        <p:txBody>
          <a:bodyPr/>
          <a:lstStyle/>
          <a:p>
            <a:endParaRPr lang="en-US" dirty="0"/>
          </a:p>
        </p:txBody>
      </p:sp>
      <p:sp>
        <p:nvSpPr>
          <p:cNvPr id="5" name="Slide Number Placeholder 4">
            <a:extLst>
              <a:ext uri="{FF2B5EF4-FFF2-40B4-BE49-F238E27FC236}">
                <a16:creationId xmlns:a16="http://schemas.microsoft.com/office/drawing/2014/main" id="{563F7426-91D3-2E45-A7EB-8AEFD486F892}"/>
              </a:ext>
            </a:extLst>
          </p:cNvPr>
          <p:cNvSpPr>
            <a:spLocks noGrp="1"/>
          </p:cNvSpPr>
          <p:nvPr>
            <p:ph type="sldNum" sz="quarter" idx="12"/>
          </p:nvPr>
        </p:nvSpPr>
        <p:spPr/>
        <p:txBody>
          <a:bodyPr/>
          <a:lstStyle/>
          <a:p>
            <a:fld id="{35103E41-D638-594C-8347-57CCA9BD2261}" type="slidenum">
              <a:rPr lang="en-US" smtClean="0"/>
              <a:pPr/>
              <a:t>‹#›</a:t>
            </a:fld>
            <a:endParaRPr lang="en-US" dirty="0"/>
          </a:p>
        </p:txBody>
      </p:sp>
      <p:cxnSp>
        <p:nvCxnSpPr>
          <p:cNvPr id="8" name="Straight Connector 7">
            <a:extLst>
              <a:ext uri="{FF2B5EF4-FFF2-40B4-BE49-F238E27FC236}">
                <a16:creationId xmlns:a16="http://schemas.microsoft.com/office/drawing/2014/main" id="{B318DE54-C9C2-C648-A0E9-559D40F79FE5}"/>
              </a:ext>
            </a:extLst>
          </p:cNvPr>
          <p:cNvCxnSpPr>
            <a:cxnSpLocks/>
          </p:cNvCxnSpPr>
          <p:nvPr userDrawn="1"/>
        </p:nvCxnSpPr>
        <p:spPr>
          <a:xfrm flipV="1">
            <a:off x="1287132" y="640907"/>
            <a:ext cx="4114427" cy="35499"/>
          </a:xfrm>
          <a:prstGeom prst="line">
            <a:avLst/>
          </a:prstGeom>
          <a:ln>
            <a:solidFill>
              <a:srgbClr val="94209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55CC666-D904-3D4E-B33E-0FEC37991704}"/>
              </a:ext>
            </a:extLst>
          </p:cNvPr>
          <p:cNvSpPr txBox="1"/>
          <p:nvPr userDrawn="1"/>
        </p:nvSpPr>
        <p:spPr>
          <a:xfrm>
            <a:off x="838200" y="333130"/>
            <a:ext cx="4667054" cy="307777"/>
          </a:xfrm>
          <a:prstGeom prst="rect">
            <a:avLst/>
          </a:prstGeom>
          <a:noFill/>
        </p:spPr>
        <p:txBody>
          <a:bodyPr wrap="square" rtlCol="0">
            <a:spAutoFit/>
          </a:bodyPr>
          <a:lstStyle/>
          <a:p>
            <a:pPr algn="r"/>
            <a:r>
              <a:rPr lang="en-US" sz="1400" b="0" i="0" dirty="0">
                <a:solidFill>
                  <a:srgbClr val="7030A0"/>
                </a:solidFill>
                <a:latin typeface="Arial Narrow" panose="020B0604020202020204" pitchFamily="34" charset="0"/>
                <a:cs typeface="Arial Narrow" panose="020B0604020202020204" pitchFamily="34" charset="0"/>
              </a:rPr>
              <a:t>Nadimpalli Satyanarayana Raju Institute of Technology (NSRIT)</a:t>
            </a:r>
          </a:p>
        </p:txBody>
      </p:sp>
      <p:grpSp>
        <p:nvGrpSpPr>
          <p:cNvPr id="10" name="Group 9">
            <a:extLst>
              <a:ext uri="{FF2B5EF4-FFF2-40B4-BE49-F238E27FC236}">
                <a16:creationId xmlns:a16="http://schemas.microsoft.com/office/drawing/2014/main" id="{04280160-CD96-F344-B5D5-3D8456E45282}"/>
              </a:ext>
            </a:extLst>
          </p:cNvPr>
          <p:cNvGrpSpPr/>
          <p:nvPr userDrawn="1"/>
        </p:nvGrpSpPr>
        <p:grpSpPr>
          <a:xfrm>
            <a:off x="0" y="-18000"/>
            <a:ext cx="889000" cy="6893999"/>
            <a:chOff x="5395029" y="-307931"/>
            <a:chExt cx="889000" cy="6858000"/>
          </a:xfrm>
        </p:grpSpPr>
        <p:pic>
          <p:nvPicPr>
            <p:cNvPr id="11" name="Picture 10" descr="Shape&#10;&#10;Description automatically generated">
              <a:extLst>
                <a:ext uri="{FF2B5EF4-FFF2-40B4-BE49-F238E27FC236}">
                  <a16:creationId xmlns:a16="http://schemas.microsoft.com/office/drawing/2014/main" id="{A83FBDA7-672B-7649-9CC4-C6C25E6BF687}"/>
                </a:ext>
              </a:extLst>
            </p:cNvPr>
            <p:cNvPicPr>
              <a:picLocks noChangeAspect="1"/>
            </p:cNvPicPr>
            <p:nvPr/>
          </p:nvPicPr>
          <p:blipFill>
            <a:blip r:embed="rId2"/>
            <a:stretch>
              <a:fillRect/>
            </a:stretch>
          </p:blipFill>
          <p:spPr>
            <a:xfrm>
              <a:off x="5395029" y="-307931"/>
              <a:ext cx="889000" cy="6858000"/>
            </a:xfrm>
            <a:prstGeom prst="rect">
              <a:avLst/>
            </a:prstGeom>
          </p:spPr>
        </p:pic>
        <p:pic>
          <p:nvPicPr>
            <p:cNvPr id="12" name="Picture 2" descr="Nadimpalli Satyanarayana Raju Institute of Technology (NSRIT), Visakhapatnam">
              <a:extLst>
                <a:ext uri="{FF2B5EF4-FFF2-40B4-BE49-F238E27FC236}">
                  <a16:creationId xmlns:a16="http://schemas.microsoft.com/office/drawing/2014/main" id="{6720536F-8ED7-3A41-8822-B94517181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3134" y="5750895"/>
              <a:ext cx="632790" cy="28223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2781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797F0-181C-244A-AE61-281D3704CB9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2D37A1-1D17-B145-9FE9-8B422162012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9C49E5-BBCC-1D43-A0CF-8ACDDFE04CAD}"/>
              </a:ext>
            </a:extLst>
          </p:cNvPr>
          <p:cNvSpPr>
            <a:spLocks noGrp="1"/>
          </p:cNvSpPr>
          <p:nvPr>
            <p:ph type="dt" sz="half" idx="10"/>
          </p:nvPr>
        </p:nvSpPr>
        <p:spPr/>
        <p:txBody>
          <a:bodyPr/>
          <a:lstStyle/>
          <a:p>
            <a:fld id="{7E61E7CC-F223-4032-9E69-EBBA0F239F25}" type="datetime1">
              <a:rPr lang="en-US" smtClean="0"/>
              <a:pPr/>
              <a:t>11/20/2025</a:t>
            </a:fld>
            <a:endParaRPr lang="en-US" dirty="0"/>
          </a:p>
        </p:txBody>
      </p:sp>
      <p:sp>
        <p:nvSpPr>
          <p:cNvPr id="5" name="Footer Placeholder 4">
            <a:extLst>
              <a:ext uri="{FF2B5EF4-FFF2-40B4-BE49-F238E27FC236}">
                <a16:creationId xmlns:a16="http://schemas.microsoft.com/office/drawing/2014/main" id="{1C475648-1CC6-B949-B8E2-B11C16F582A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D06D71-730F-874C-8822-7A2A645A2C0B}"/>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1066295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1450-36D7-3245-971C-E1F4763C0FD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0D8AB14-C375-C348-AB1D-B722BB6837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0F10069-F5C5-3247-BB16-50BD68B8D32E}"/>
              </a:ext>
            </a:extLst>
          </p:cNvPr>
          <p:cNvSpPr>
            <a:spLocks noGrp="1"/>
          </p:cNvSpPr>
          <p:nvPr>
            <p:ph type="dt" sz="half" idx="10"/>
          </p:nvPr>
        </p:nvSpPr>
        <p:spPr/>
        <p:txBody>
          <a:bodyPr/>
          <a:lstStyle/>
          <a:p>
            <a:fld id="{7593F37F-3244-4B32-B7F5-F33E776AA4AE}" type="datetime1">
              <a:rPr lang="en-US" smtClean="0"/>
              <a:pPr/>
              <a:t>11/20/2025</a:t>
            </a:fld>
            <a:endParaRPr lang="en-US" dirty="0"/>
          </a:p>
        </p:txBody>
      </p:sp>
      <p:sp>
        <p:nvSpPr>
          <p:cNvPr id="5" name="Footer Placeholder 4">
            <a:extLst>
              <a:ext uri="{FF2B5EF4-FFF2-40B4-BE49-F238E27FC236}">
                <a16:creationId xmlns:a16="http://schemas.microsoft.com/office/drawing/2014/main" id="{1814D9E4-DF78-8440-AC2E-E462F60CB9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E7FB0C-615F-C14A-B261-DD86B7D6A1FA}"/>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2331038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38CC1-B1DE-914C-85F5-6921A926E84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63B7A3-9753-6840-9FC9-D81C94E46E7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DC628A8-5618-5D4D-8E08-5E140438C5C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4DCD8F9-65F0-6440-A933-9A16B8C498C3}"/>
              </a:ext>
            </a:extLst>
          </p:cNvPr>
          <p:cNvSpPr>
            <a:spLocks noGrp="1"/>
          </p:cNvSpPr>
          <p:nvPr>
            <p:ph type="dt" sz="half" idx="10"/>
          </p:nvPr>
        </p:nvSpPr>
        <p:spPr/>
        <p:txBody>
          <a:bodyPr/>
          <a:lstStyle/>
          <a:p>
            <a:fld id="{6AADFC70-838E-4F1B-B3E6-E59E9D187586}" type="datetime1">
              <a:rPr lang="en-US" smtClean="0"/>
              <a:pPr/>
              <a:t>11/20/2025</a:t>
            </a:fld>
            <a:endParaRPr lang="en-US" dirty="0"/>
          </a:p>
        </p:txBody>
      </p:sp>
      <p:sp>
        <p:nvSpPr>
          <p:cNvPr id="6" name="Footer Placeholder 5">
            <a:extLst>
              <a:ext uri="{FF2B5EF4-FFF2-40B4-BE49-F238E27FC236}">
                <a16:creationId xmlns:a16="http://schemas.microsoft.com/office/drawing/2014/main" id="{1EBCB319-B871-5043-AA56-B666506991A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ECC033F-B004-AA44-90C1-E9EB041A1D7F}"/>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129302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D6A60-41C5-984C-A530-E05EBD66221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072AF43-7E2F-9C43-8A86-1CF3653709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BE17C8A-C509-0440-A00E-CF10EB14061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285EB51-F5BB-ED47-B423-FA1D0DE8B7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4EFDF33-B21A-BF4A-959C-3423DEEC05B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928A9B-807E-1D49-B8EC-8F6BDE092C86}"/>
              </a:ext>
            </a:extLst>
          </p:cNvPr>
          <p:cNvSpPr>
            <a:spLocks noGrp="1"/>
          </p:cNvSpPr>
          <p:nvPr>
            <p:ph type="dt" sz="half" idx="10"/>
          </p:nvPr>
        </p:nvSpPr>
        <p:spPr/>
        <p:txBody>
          <a:bodyPr/>
          <a:lstStyle/>
          <a:p>
            <a:fld id="{073EB052-A064-4C8A-BD7C-A762BADBA64C}" type="datetime1">
              <a:rPr lang="en-US" smtClean="0"/>
              <a:pPr/>
              <a:t>11/20/2025</a:t>
            </a:fld>
            <a:endParaRPr lang="en-US" dirty="0"/>
          </a:p>
        </p:txBody>
      </p:sp>
      <p:sp>
        <p:nvSpPr>
          <p:cNvPr id="8" name="Footer Placeholder 7">
            <a:extLst>
              <a:ext uri="{FF2B5EF4-FFF2-40B4-BE49-F238E27FC236}">
                <a16:creationId xmlns:a16="http://schemas.microsoft.com/office/drawing/2014/main" id="{75AAA61D-6962-C748-BA48-BBFA824980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342AE49-29BA-1442-963D-D2658F0A0650}"/>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2462974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6DF24-0A58-2E42-BB68-0447AA9C390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05626FF-D101-CA4E-9B0B-3700F6BC8B66}"/>
              </a:ext>
            </a:extLst>
          </p:cNvPr>
          <p:cNvSpPr>
            <a:spLocks noGrp="1"/>
          </p:cNvSpPr>
          <p:nvPr>
            <p:ph type="dt" sz="half" idx="10"/>
          </p:nvPr>
        </p:nvSpPr>
        <p:spPr/>
        <p:txBody>
          <a:bodyPr/>
          <a:lstStyle/>
          <a:p>
            <a:fld id="{10A5A420-5F04-4781-8186-D7BB2AA87267}" type="datetime1">
              <a:rPr lang="en-US" smtClean="0"/>
              <a:pPr/>
              <a:t>11/20/2025</a:t>
            </a:fld>
            <a:endParaRPr lang="en-US" dirty="0"/>
          </a:p>
        </p:txBody>
      </p:sp>
      <p:sp>
        <p:nvSpPr>
          <p:cNvPr id="4" name="Footer Placeholder 3">
            <a:extLst>
              <a:ext uri="{FF2B5EF4-FFF2-40B4-BE49-F238E27FC236}">
                <a16:creationId xmlns:a16="http://schemas.microsoft.com/office/drawing/2014/main" id="{72F52625-D3DB-4E45-A36F-F2067209724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0DB68CE-A6F4-6C42-B553-B27A1FBAA81A}"/>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3116324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06E897-6620-4647-9FAB-00435ED2A055}"/>
              </a:ext>
            </a:extLst>
          </p:cNvPr>
          <p:cNvSpPr>
            <a:spLocks noGrp="1"/>
          </p:cNvSpPr>
          <p:nvPr>
            <p:ph type="dt" sz="half" idx="10"/>
          </p:nvPr>
        </p:nvSpPr>
        <p:spPr/>
        <p:txBody>
          <a:bodyPr/>
          <a:lstStyle/>
          <a:p>
            <a:fld id="{2F285BC8-0198-4A07-A698-24C7F2A30973}" type="datetime1">
              <a:rPr lang="en-US" smtClean="0"/>
              <a:pPr/>
              <a:t>11/20/2025</a:t>
            </a:fld>
            <a:endParaRPr lang="en-US" dirty="0"/>
          </a:p>
        </p:txBody>
      </p:sp>
      <p:sp>
        <p:nvSpPr>
          <p:cNvPr id="3" name="Footer Placeholder 2">
            <a:extLst>
              <a:ext uri="{FF2B5EF4-FFF2-40B4-BE49-F238E27FC236}">
                <a16:creationId xmlns:a16="http://schemas.microsoft.com/office/drawing/2014/main" id="{BBF07957-A4C9-4C41-B6D1-A1BEA341BF5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37B92C-9CDF-F841-AAE0-C6A988DFE6B1}"/>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794803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0F54-085F-E141-B1AB-99869E6B25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6127A7E-E93F-9743-BE82-8CFD06C72D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4BC3AEB-AA1B-DD48-89AB-4A76CDE50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4BD1AE-AAE0-764D-A84C-1BCB5F2EC85D}"/>
              </a:ext>
            </a:extLst>
          </p:cNvPr>
          <p:cNvSpPr>
            <a:spLocks noGrp="1"/>
          </p:cNvSpPr>
          <p:nvPr>
            <p:ph type="dt" sz="half" idx="10"/>
          </p:nvPr>
        </p:nvSpPr>
        <p:spPr/>
        <p:txBody>
          <a:bodyPr/>
          <a:lstStyle/>
          <a:p>
            <a:fld id="{783B7739-F046-4C31-AC69-AD0633211A8A}" type="datetime1">
              <a:rPr lang="en-US" smtClean="0"/>
              <a:pPr/>
              <a:t>11/20/2025</a:t>
            </a:fld>
            <a:endParaRPr lang="en-US" dirty="0"/>
          </a:p>
        </p:txBody>
      </p:sp>
      <p:sp>
        <p:nvSpPr>
          <p:cNvPr id="6" name="Footer Placeholder 5">
            <a:extLst>
              <a:ext uri="{FF2B5EF4-FFF2-40B4-BE49-F238E27FC236}">
                <a16:creationId xmlns:a16="http://schemas.microsoft.com/office/drawing/2014/main" id="{86FA9366-89D9-CD41-AB97-63EC9B8A29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32661F-20E3-0247-B3CA-1FBE8049CBD1}"/>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1431966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4381C-66BA-EB4D-83B1-12C8F4EEB00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CBF40A-103E-0740-AF80-F721846044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8FD5884-401D-3348-AEF0-E6767B7D90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D4F838C-5DB1-4445-8D8F-0FCAA9267227}"/>
              </a:ext>
            </a:extLst>
          </p:cNvPr>
          <p:cNvSpPr>
            <a:spLocks noGrp="1"/>
          </p:cNvSpPr>
          <p:nvPr>
            <p:ph type="dt" sz="half" idx="10"/>
          </p:nvPr>
        </p:nvSpPr>
        <p:spPr/>
        <p:txBody>
          <a:bodyPr/>
          <a:lstStyle/>
          <a:p>
            <a:fld id="{184D4A70-5FD0-4D99-A39D-0F15E3E28C4E}" type="datetime1">
              <a:rPr lang="en-US" smtClean="0"/>
              <a:pPr/>
              <a:t>11/20/2025</a:t>
            </a:fld>
            <a:endParaRPr lang="en-US" dirty="0"/>
          </a:p>
        </p:txBody>
      </p:sp>
      <p:sp>
        <p:nvSpPr>
          <p:cNvPr id="6" name="Footer Placeholder 5">
            <a:extLst>
              <a:ext uri="{FF2B5EF4-FFF2-40B4-BE49-F238E27FC236}">
                <a16:creationId xmlns:a16="http://schemas.microsoft.com/office/drawing/2014/main" id="{8F3F96C7-0F07-0D45-844D-EF6A7ACFCAE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D1D9B6F-358C-3D46-B64B-CD98D4F56C03}"/>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1366956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42537-2EC1-8A4B-BDCB-BCD3FAD1AB0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C428874-B1D9-CD41-8531-17F64B1E659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EFECDC-BB58-0C44-8F2B-71E5F4EF3CB3}"/>
              </a:ext>
            </a:extLst>
          </p:cNvPr>
          <p:cNvSpPr>
            <a:spLocks noGrp="1"/>
          </p:cNvSpPr>
          <p:nvPr>
            <p:ph type="dt" sz="half" idx="10"/>
          </p:nvPr>
        </p:nvSpPr>
        <p:spPr/>
        <p:txBody>
          <a:bodyPr/>
          <a:lstStyle/>
          <a:p>
            <a:fld id="{05EA9278-7FC8-4F79-A0B6-25B4FC16B995}" type="datetime1">
              <a:rPr lang="en-US" smtClean="0"/>
              <a:pPr/>
              <a:t>11/20/2025</a:t>
            </a:fld>
            <a:endParaRPr lang="en-US" dirty="0"/>
          </a:p>
        </p:txBody>
      </p:sp>
      <p:sp>
        <p:nvSpPr>
          <p:cNvPr id="5" name="Footer Placeholder 4">
            <a:extLst>
              <a:ext uri="{FF2B5EF4-FFF2-40B4-BE49-F238E27FC236}">
                <a16:creationId xmlns:a16="http://schemas.microsoft.com/office/drawing/2014/main" id="{6CAE721E-CDEC-CF45-8BA7-4E5ACC2D6A1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54D633-229B-6F4C-B7C2-E62CFB010D2F}"/>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3525494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677097-74D9-4E47-B351-759486FE725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2EA458F-F85C-7B47-9952-64469A448DA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3ADB56-D850-DC4B-8CDD-EBA97B5ABEC4}"/>
              </a:ext>
            </a:extLst>
          </p:cNvPr>
          <p:cNvSpPr>
            <a:spLocks noGrp="1"/>
          </p:cNvSpPr>
          <p:nvPr>
            <p:ph type="dt" sz="half" idx="10"/>
          </p:nvPr>
        </p:nvSpPr>
        <p:spPr/>
        <p:txBody>
          <a:bodyPr/>
          <a:lstStyle/>
          <a:p>
            <a:fld id="{5F16B8E0-9222-42C1-AFE6-3057C63888F3}" type="datetime1">
              <a:rPr lang="en-US" smtClean="0"/>
              <a:pPr/>
              <a:t>11/20/2025</a:t>
            </a:fld>
            <a:endParaRPr lang="en-US" dirty="0"/>
          </a:p>
        </p:txBody>
      </p:sp>
      <p:sp>
        <p:nvSpPr>
          <p:cNvPr id="5" name="Footer Placeholder 4">
            <a:extLst>
              <a:ext uri="{FF2B5EF4-FFF2-40B4-BE49-F238E27FC236}">
                <a16:creationId xmlns:a16="http://schemas.microsoft.com/office/drawing/2014/main" id="{8AD44A91-25B4-394D-8194-E3E31906B3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AA8FAF4-19AA-D140-9229-D3EF2BAAD623}"/>
              </a:ext>
            </a:extLst>
          </p:cNvPr>
          <p:cNvSpPr>
            <a:spLocks noGrp="1"/>
          </p:cNvSpPr>
          <p:nvPr>
            <p:ph type="sldNum" sz="quarter" idx="12"/>
          </p:nvPr>
        </p:nvSpPr>
        <p:spPr/>
        <p:txBody>
          <a:body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353521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FE4F15-296B-6946-8A82-3C31ECD554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541FD10-AEDC-144B-98E5-71097B2E51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97B6EB6-CEAA-3E41-8C42-9AD19C4E4A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7A63DE-1312-4ED6-9BAD-BDD6B4155A38}" type="datetime1">
              <a:rPr lang="en-US" smtClean="0"/>
              <a:pPr/>
              <a:t>11/20/2025</a:t>
            </a:fld>
            <a:endParaRPr lang="en-US" dirty="0"/>
          </a:p>
        </p:txBody>
      </p:sp>
      <p:sp>
        <p:nvSpPr>
          <p:cNvPr id="5" name="Footer Placeholder 4">
            <a:extLst>
              <a:ext uri="{FF2B5EF4-FFF2-40B4-BE49-F238E27FC236}">
                <a16:creationId xmlns:a16="http://schemas.microsoft.com/office/drawing/2014/main" id="{82933625-C3F8-E846-8545-62B70A4C80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01D9788-25AC-484B-BF44-EA896981BC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103E41-D638-594C-8347-57CCA9BD2261}" type="slidenum">
              <a:rPr lang="en-US" smtClean="0"/>
              <a:pPr/>
              <a:t>‹#›</a:t>
            </a:fld>
            <a:endParaRPr lang="en-US" dirty="0"/>
          </a:p>
        </p:txBody>
      </p:sp>
    </p:spTree>
    <p:extLst>
      <p:ext uri="{BB962C8B-B14F-4D97-AF65-F5344CB8AC3E}">
        <p14:creationId xmlns:p14="http://schemas.microsoft.com/office/powerpoint/2010/main" val="415684937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66EE1D-CE52-7142-9FE7-6EB016BAE14D}"/>
              </a:ext>
            </a:extLst>
          </p:cNvPr>
          <p:cNvSpPr>
            <a:spLocks noGrp="1"/>
          </p:cNvSpPr>
          <p:nvPr>
            <p:ph type="ctrTitle"/>
          </p:nvPr>
        </p:nvSpPr>
        <p:spPr>
          <a:xfrm>
            <a:off x="1465118" y="2493818"/>
            <a:ext cx="10172699" cy="2535382"/>
          </a:xfrm>
        </p:spPr>
        <p:txBody>
          <a:bodyPr>
            <a:normAutofit fontScale="90000"/>
          </a:bodyPr>
          <a:lstStyle/>
          <a:p>
            <a:r>
              <a:rPr lang="en-US" sz="2400" dirty="0">
                <a:latin typeface="Arial Narrow"/>
              </a:rPr>
              <a:t>Course:                           </a:t>
            </a:r>
            <a:r>
              <a:rPr lang="en-US" sz="2400" dirty="0">
                <a:solidFill>
                  <a:schemeClr val="tx1">
                    <a:lumMod val="95000"/>
                    <a:lumOff val="5000"/>
                  </a:schemeClr>
                </a:solidFill>
                <a:latin typeface="Arial Narrow"/>
              </a:rPr>
              <a:t>Tinkering Lab</a:t>
            </a:r>
            <a:br>
              <a:rPr lang="en-US" sz="2400" dirty="0">
                <a:solidFill>
                  <a:srgbClr val="0432FF"/>
                </a:solidFill>
                <a:latin typeface="Arial Narrow"/>
              </a:rPr>
            </a:br>
            <a:r>
              <a:rPr lang="en-US" sz="2400" dirty="0">
                <a:latin typeface="Arial Narrow"/>
              </a:rPr>
              <a:t>Course Instructor :          </a:t>
            </a:r>
            <a:r>
              <a:rPr lang="en-US" sz="2400" dirty="0">
                <a:solidFill>
                  <a:schemeClr val="tx1">
                    <a:lumMod val="95000"/>
                    <a:lumOff val="5000"/>
                  </a:schemeClr>
                </a:solidFill>
                <a:latin typeface="Arial Narrow"/>
              </a:rPr>
              <a:t>Mr. A. Suraj Kumar.</a:t>
            </a:r>
            <a:br>
              <a:rPr lang="en-US" sz="2400" dirty="0">
                <a:solidFill>
                  <a:srgbClr val="0432FF"/>
                </a:solidFill>
                <a:latin typeface="Arial Narrow"/>
              </a:rPr>
            </a:br>
            <a:r>
              <a:rPr lang="en-US" sz="2400" dirty="0">
                <a:latin typeface="Arial Narrow"/>
              </a:rPr>
              <a:t>Branch :                          </a:t>
            </a:r>
            <a:r>
              <a:rPr lang="en-US" sz="2400" dirty="0">
                <a:solidFill>
                  <a:schemeClr val="tx1">
                    <a:lumMod val="95000"/>
                    <a:lumOff val="5000"/>
                  </a:schemeClr>
                </a:solidFill>
                <a:latin typeface="Arial Narrow"/>
              </a:rPr>
              <a:t>CSD</a:t>
            </a:r>
            <a:br>
              <a:rPr lang="en-US" sz="2400" dirty="0">
                <a:solidFill>
                  <a:srgbClr val="0432FF"/>
                </a:solidFill>
                <a:latin typeface="Arial Narrow"/>
              </a:rPr>
            </a:br>
            <a:r>
              <a:rPr lang="en-US" sz="2400" dirty="0">
                <a:latin typeface="Arial Narrow"/>
              </a:rPr>
              <a:t>Semester :                       </a:t>
            </a:r>
            <a:r>
              <a:rPr lang="en-US" sz="2400" dirty="0">
                <a:solidFill>
                  <a:schemeClr val="tx1">
                    <a:lumMod val="95000"/>
                    <a:lumOff val="5000"/>
                  </a:schemeClr>
                </a:solidFill>
                <a:latin typeface="Arial Narrow"/>
              </a:rPr>
              <a:t>V</a:t>
            </a:r>
            <a:br>
              <a:rPr lang="en-US" sz="2400" dirty="0">
                <a:solidFill>
                  <a:srgbClr val="0432FF"/>
                </a:solidFill>
                <a:latin typeface="Arial Narrow"/>
              </a:rPr>
            </a:br>
            <a:r>
              <a:rPr lang="en-US" sz="2400" dirty="0">
                <a:latin typeface="Arial Narrow"/>
              </a:rPr>
              <a:t>Batch members:</a:t>
            </a:r>
            <a:br>
              <a:rPr lang="en-US" sz="2400" dirty="0">
                <a:solidFill>
                  <a:srgbClr val="0432FF"/>
                </a:solidFill>
                <a:latin typeface="Arial Narrow"/>
              </a:rPr>
            </a:br>
            <a:r>
              <a:rPr lang="en-US" sz="2400" dirty="0">
                <a:solidFill>
                  <a:srgbClr val="0432FF"/>
                </a:solidFill>
                <a:latin typeface="Arial Narrow"/>
              </a:rPr>
              <a:t>                                       </a:t>
            </a:r>
            <a:r>
              <a:rPr lang="en-US" sz="2400" dirty="0">
                <a:solidFill>
                  <a:schemeClr val="tx1">
                    <a:lumMod val="95000"/>
                    <a:lumOff val="5000"/>
                  </a:schemeClr>
                </a:solidFill>
                <a:latin typeface="Arial Narrow"/>
              </a:rPr>
              <a:t>  Y. Sai Teja               (23NU1A4461)</a:t>
            </a:r>
            <a:br>
              <a:rPr lang="en-US" sz="2400" dirty="0">
                <a:solidFill>
                  <a:schemeClr val="tx1">
                    <a:lumMod val="95000"/>
                    <a:lumOff val="5000"/>
                  </a:schemeClr>
                </a:solidFill>
                <a:latin typeface="Arial Narrow"/>
              </a:rPr>
            </a:br>
            <a:r>
              <a:rPr lang="en-US" sz="2400" dirty="0">
                <a:solidFill>
                  <a:schemeClr val="tx1">
                    <a:lumMod val="95000"/>
                    <a:lumOff val="5000"/>
                  </a:schemeClr>
                </a:solidFill>
                <a:latin typeface="Arial Narrow"/>
              </a:rPr>
              <a:t>                                         P. Hema                  (23NU1A4442)</a:t>
            </a:r>
            <a:br>
              <a:rPr lang="en-US" sz="2400" dirty="0">
                <a:solidFill>
                  <a:schemeClr val="tx1">
                    <a:lumMod val="95000"/>
                    <a:lumOff val="5000"/>
                  </a:schemeClr>
                </a:solidFill>
                <a:latin typeface="Arial Narrow"/>
              </a:rPr>
            </a:br>
            <a:r>
              <a:rPr lang="en-US" sz="2400" dirty="0">
                <a:solidFill>
                  <a:schemeClr val="tx1">
                    <a:lumMod val="95000"/>
                    <a:lumOff val="5000"/>
                  </a:schemeClr>
                </a:solidFill>
                <a:latin typeface="Arial Narrow"/>
              </a:rPr>
              <a:t>                                         K. Kusumanjali       (23NU1A4425)</a:t>
            </a:r>
            <a:br>
              <a:rPr lang="en-US" sz="2400" dirty="0">
                <a:solidFill>
                  <a:schemeClr val="tx1">
                    <a:lumMod val="95000"/>
                    <a:lumOff val="5000"/>
                  </a:schemeClr>
                </a:solidFill>
                <a:latin typeface="Arial Narrow"/>
              </a:rPr>
            </a:br>
            <a:r>
              <a:rPr lang="en-US" sz="2400" dirty="0">
                <a:solidFill>
                  <a:schemeClr val="tx1">
                    <a:lumMod val="95000"/>
                    <a:lumOff val="5000"/>
                  </a:schemeClr>
                </a:solidFill>
                <a:latin typeface="Arial Narrow"/>
              </a:rPr>
              <a:t>                                         M. </a:t>
            </a:r>
            <a:r>
              <a:rPr lang="en-US" sz="2400" dirty="0" err="1">
                <a:solidFill>
                  <a:schemeClr val="tx1">
                    <a:lumMod val="95000"/>
                    <a:lumOff val="5000"/>
                  </a:schemeClr>
                </a:solidFill>
                <a:latin typeface="Arial Narrow"/>
              </a:rPr>
              <a:t>Dhamodara</a:t>
            </a:r>
            <a:r>
              <a:rPr lang="en-US" sz="2400" dirty="0">
                <a:solidFill>
                  <a:schemeClr val="tx1">
                    <a:lumMod val="95000"/>
                    <a:lumOff val="5000"/>
                  </a:schemeClr>
                </a:solidFill>
                <a:latin typeface="Arial Narrow"/>
              </a:rPr>
              <a:t> </a:t>
            </a:r>
            <a:r>
              <a:rPr lang="en-US" sz="2400" dirty="0" err="1">
                <a:solidFill>
                  <a:schemeClr val="tx1">
                    <a:lumMod val="95000"/>
                    <a:lumOff val="5000"/>
                  </a:schemeClr>
                </a:solidFill>
                <a:latin typeface="Arial Narrow"/>
              </a:rPr>
              <a:t>rao</a:t>
            </a:r>
            <a:r>
              <a:rPr lang="en-US" sz="2400" dirty="0">
                <a:solidFill>
                  <a:schemeClr val="tx1">
                    <a:lumMod val="95000"/>
                    <a:lumOff val="5000"/>
                  </a:schemeClr>
                </a:solidFill>
                <a:latin typeface="Arial Narrow"/>
              </a:rPr>
              <a:t>  (23NU1A4435)</a:t>
            </a:r>
            <a:br>
              <a:rPr lang="en-US" sz="2400" dirty="0">
                <a:solidFill>
                  <a:srgbClr val="0432FF"/>
                </a:solidFill>
                <a:latin typeface="Arial Narrow"/>
              </a:rPr>
            </a:br>
            <a:r>
              <a:rPr lang="en-US" sz="2400" dirty="0">
                <a:solidFill>
                  <a:srgbClr val="0432FF"/>
                </a:solidFill>
                <a:latin typeface="Arial Narrow"/>
              </a:rPr>
              <a:t>                                        </a:t>
            </a:r>
            <a:br>
              <a:rPr lang="en-US" sz="2400" dirty="0">
                <a:solidFill>
                  <a:srgbClr val="0432FF"/>
                </a:solidFill>
                <a:latin typeface="Arial Narrow"/>
              </a:rPr>
            </a:br>
            <a:br>
              <a:rPr lang="en-US" sz="2400" dirty="0">
                <a:solidFill>
                  <a:srgbClr val="0432FF"/>
                </a:solidFill>
                <a:latin typeface="Arial Narrow"/>
              </a:rPr>
            </a:br>
            <a:r>
              <a:rPr lang="en-US" sz="2400" dirty="0">
                <a:solidFill>
                  <a:srgbClr val="0432FF"/>
                </a:solidFill>
                <a:latin typeface="Arial Narrow"/>
              </a:rPr>
              <a:t>                                               </a:t>
            </a:r>
            <a:br>
              <a:rPr lang="en-US" sz="2400" dirty="0">
                <a:solidFill>
                  <a:srgbClr val="0432FF"/>
                </a:solidFill>
                <a:latin typeface="Arial Narrow"/>
              </a:rPr>
            </a:br>
            <a:r>
              <a:rPr lang="en-US" sz="2400" dirty="0">
                <a:solidFill>
                  <a:srgbClr val="0432FF"/>
                </a:solidFill>
                <a:latin typeface="Arial Narrow"/>
              </a:rPr>
              <a:t>                                         </a:t>
            </a:r>
            <a:br>
              <a:rPr lang="en-US" sz="2400" dirty="0">
                <a:solidFill>
                  <a:srgbClr val="0432FF"/>
                </a:solidFill>
                <a:latin typeface="Arial Narrow"/>
              </a:rPr>
            </a:br>
            <a:br>
              <a:rPr lang="en-US" sz="2400" dirty="0">
                <a:solidFill>
                  <a:srgbClr val="0432FF"/>
                </a:solidFill>
                <a:latin typeface="Arial Narrow"/>
              </a:rPr>
            </a:br>
            <a:endParaRPr lang="en-US" sz="2400" dirty="0">
              <a:solidFill>
                <a:srgbClr val="0432FF"/>
              </a:solidFill>
              <a:latin typeface="Arial Narrow"/>
            </a:endParaRPr>
          </a:p>
        </p:txBody>
      </p:sp>
      <p:sp>
        <p:nvSpPr>
          <p:cNvPr id="3" name="Slide Number Placeholder 2"/>
          <p:cNvSpPr>
            <a:spLocks noGrp="1"/>
          </p:cNvSpPr>
          <p:nvPr>
            <p:ph type="sldNum" sz="quarter" idx="12"/>
          </p:nvPr>
        </p:nvSpPr>
        <p:spPr/>
        <p:txBody>
          <a:bodyPr/>
          <a:lstStyle/>
          <a:p>
            <a:fld id="{35103E41-D638-594C-8347-57CCA9BD2261}" type="slidenum">
              <a:rPr lang="en-US" smtClean="0"/>
              <a:pPr/>
              <a:t>1</a:t>
            </a:fld>
            <a:endParaRPr lang="en-US" dirty="0"/>
          </a:p>
        </p:txBody>
      </p:sp>
    </p:spTree>
    <p:extLst>
      <p:ext uri="{BB962C8B-B14F-4D97-AF65-F5344CB8AC3E}">
        <p14:creationId xmlns:p14="http://schemas.microsoft.com/office/powerpoint/2010/main" val="18163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216B92-9B45-6C95-687E-647FD1AE4099}"/>
              </a:ext>
            </a:extLst>
          </p:cNvPr>
          <p:cNvSpPr>
            <a:spLocks noGrp="1"/>
          </p:cNvSpPr>
          <p:nvPr>
            <p:ph type="sldNum" sz="quarter" idx="12"/>
          </p:nvPr>
        </p:nvSpPr>
        <p:spPr/>
        <p:txBody>
          <a:bodyPr/>
          <a:lstStyle/>
          <a:p>
            <a:fld id="{35103E41-D638-594C-8347-57CCA9BD2261}" type="slidenum">
              <a:rPr lang="en-US" smtClean="0"/>
              <a:pPr/>
              <a:t>2</a:t>
            </a:fld>
            <a:endParaRPr lang="en-US" dirty="0"/>
          </a:p>
        </p:txBody>
      </p:sp>
      <p:sp>
        <p:nvSpPr>
          <p:cNvPr id="4" name="TextBox 3">
            <a:extLst>
              <a:ext uri="{FF2B5EF4-FFF2-40B4-BE49-F238E27FC236}">
                <a16:creationId xmlns:a16="http://schemas.microsoft.com/office/drawing/2014/main" id="{428A1A84-1472-1BDE-D97A-DAD38AADB842}"/>
              </a:ext>
            </a:extLst>
          </p:cNvPr>
          <p:cNvSpPr txBox="1"/>
          <p:nvPr/>
        </p:nvSpPr>
        <p:spPr>
          <a:xfrm>
            <a:off x="1288473" y="852055"/>
            <a:ext cx="10557163" cy="5109091"/>
          </a:xfrm>
          <a:prstGeom prst="rect">
            <a:avLst/>
          </a:prstGeom>
          <a:noFill/>
        </p:spPr>
        <p:txBody>
          <a:bodyPr wrap="square">
            <a:spAutoFit/>
          </a:bodyPr>
          <a:lstStyle/>
          <a:p>
            <a:pPr lvl="0" rtl="0" eaLnBrk="0">
              <a:spcBef>
                <a:spcPct val="0"/>
              </a:spcBef>
              <a:spcAft>
                <a:spcPct val="0"/>
              </a:spcAft>
            </a:pPr>
            <a:r>
              <a:rPr lang="en-IN" sz="3200" dirty="0">
                <a:solidFill>
                  <a:srgbClr val="C00000"/>
                </a:solidFill>
                <a:latin typeface="Arial Narrow" panose="020B0606020202030204" pitchFamily="34" charset="0"/>
              </a:rPr>
              <a:t>Project Overview:</a:t>
            </a:r>
          </a:p>
          <a:p>
            <a:pPr lvl="0" rtl="0" eaLnBrk="0">
              <a:spcBef>
                <a:spcPct val="0"/>
              </a:spcBef>
              <a:spcAft>
                <a:spcPct val="0"/>
              </a:spcAft>
            </a:pPr>
            <a:endParaRPr lang="en-IN" sz="1800" dirty="0">
              <a:solidFill>
                <a:schemeClr val="accent4"/>
              </a:solidFill>
              <a:latin typeface="Arial Narrow" panose="020B0606020202030204" pitchFamily="34" charset="0"/>
            </a:endParaRPr>
          </a:p>
          <a:p>
            <a:pPr lvl="0" rtl="0" eaLnBrk="0">
              <a:spcBef>
                <a:spcPct val="0"/>
              </a:spcBef>
              <a:spcAft>
                <a:spcPct val="0"/>
              </a:spcAft>
            </a:pPr>
            <a:endParaRPr lang="en-IN" dirty="0">
              <a:solidFill>
                <a:schemeClr val="tx1">
                  <a:lumMod val="95000"/>
                  <a:lumOff val="5000"/>
                </a:schemeClr>
              </a:solidFill>
              <a:latin typeface="Arial Narrow" panose="020B0606020202030204" pitchFamily="34" charset="0"/>
            </a:endParaRPr>
          </a:p>
          <a:p>
            <a:pPr lvl="0" rtl="0" eaLnBrk="0">
              <a:spcBef>
                <a:spcPct val="0"/>
              </a:spcBef>
              <a:spcAft>
                <a:spcPct val="0"/>
              </a:spcAft>
            </a:pPr>
            <a:r>
              <a:rPr lang="en-IN" sz="2000" u="sng" dirty="0">
                <a:solidFill>
                  <a:schemeClr val="tx1">
                    <a:lumMod val="95000"/>
                    <a:lumOff val="5000"/>
                  </a:schemeClr>
                </a:solidFill>
                <a:latin typeface="Arial Narrow" panose="020B0606020202030204" pitchFamily="34" charset="0"/>
              </a:rPr>
              <a:t>Problem statement: </a:t>
            </a:r>
          </a:p>
          <a:p>
            <a:pPr lvl="0" eaLnBrk="0">
              <a:spcBef>
                <a:spcPct val="0"/>
              </a:spcBef>
              <a:spcAft>
                <a:spcPct val="0"/>
              </a:spcAft>
            </a:pPr>
            <a:r>
              <a:rPr lang="en-IN" sz="2000" b="1" dirty="0">
                <a:solidFill>
                  <a:schemeClr val="tx1">
                    <a:lumMod val="95000"/>
                    <a:lumOff val="5000"/>
                  </a:schemeClr>
                </a:solidFill>
                <a:latin typeface="Arial Narrow" panose="020B0606020202030204" pitchFamily="34" charset="0"/>
              </a:rPr>
              <a:t>                                     </a:t>
            </a:r>
            <a:r>
              <a:rPr lang="en-US" sz="2000" b="1" dirty="0">
                <a:solidFill>
                  <a:schemeClr val="tx1">
                    <a:lumMod val="95000"/>
                    <a:lumOff val="5000"/>
                  </a:schemeClr>
                </a:solidFill>
                <a:latin typeface="Arial Narrow" panose="020B0606020202030204" pitchFamily="34" charset="0"/>
              </a:rPr>
              <a:t>Focus Point</a:t>
            </a:r>
            <a:r>
              <a:rPr lang="en-US" sz="2000" dirty="0">
                <a:solidFill>
                  <a:schemeClr val="tx1">
                    <a:lumMod val="95000"/>
                    <a:lumOff val="5000"/>
                  </a:schemeClr>
                </a:solidFill>
                <a:latin typeface="Arial Narrow" panose="020B0606020202030204" pitchFamily="34" charset="0"/>
              </a:rPr>
              <a:t>, a smart, AI-Driven personalized learning and productivity platform.</a:t>
            </a:r>
          </a:p>
          <a:p>
            <a:pPr lvl="0" eaLnBrk="0">
              <a:spcBef>
                <a:spcPct val="0"/>
              </a:spcBef>
              <a:spcAft>
                <a:spcPct val="0"/>
              </a:spcAft>
            </a:pPr>
            <a:r>
              <a:rPr lang="en-US" sz="2000" u="sng" dirty="0">
                <a:solidFill>
                  <a:schemeClr val="tx1">
                    <a:lumMod val="95000"/>
                    <a:lumOff val="5000"/>
                  </a:schemeClr>
                </a:solidFill>
                <a:latin typeface="Arial Narrow" panose="020B0606020202030204" pitchFamily="34" charset="0"/>
              </a:rPr>
              <a:t>Description:</a:t>
            </a:r>
          </a:p>
          <a:p>
            <a:pPr lvl="0" eaLnBrk="0">
              <a:spcBef>
                <a:spcPct val="0"/>
              </a:spcBef>
              <a:spcAft>
                <a:spcPct val="0"/>
              </a:spcAft>
            </a:pPr>
            <a:r>
              <a:rPr lang="en-US" sz="2000" dirty="0">
                <a:solidFill>
                  <a:schemeClr val="tx1">
                    <a:lumMod val="95000"/>
                    <a:lumOff val="5000"/>
                  </a:schemeClr>
                </a:solidFill>
                <a:latin typeface="Arial Narrow" panose="020B0606020202030204" pitchFamily="34" charset="0"/>
              </a:rPr>
              <a:t>                      Students struggle with:</a:t>
            </a:r>
          </a:p>
          <a:p>
            <a:pPr marL="285750" lvl="0" indent="-285750" eaLnBrk="0">
              <a:spcBef>
                <a:spcPct val="0"/>
              </a:spcBef>
              <a:spcAft>
                <a:spcPct val="0"/>
              </a:spcAft>
              <a:buFont typeface="Wingdings" panose="05000000000000000000" pitchFamily="2" charset="2"/>
              <a:buChar char="Ø"/>
            </a:pPr>
            <a:r>
              <a:rPr lang="en-US" sz="2000" dirty="0">
                <a:solidFill>
                  <a:schemeClr val="tx1">
                    <a:lumMod val="95000"/>
                    <a:lumOff val="5000"/>
                  </a:schemeClr>
                </a:solidFill>
                <a:latin typeface="Arial Narrow" panose="020B0606020202030204" pitchFamily="34" charset="0"/>
              </a:rPr>
              <a:t>Managing time and balancing multiple subjects</a:t>
            </a:r>
          </a:p>
          <a:p>
            <a:pPr marL="285750" lvl="0" indent="-285750" eaLnBrk="0">
              <a:spcBef>
                <a:spcPct val="0"/>
              </a:spcBef>
              <a:spcAft>
                <a:spcPct val="0"/>
              </a:spcAft>
              <a:buFont typeface="Wingdings" panose="05000000000000000000" pitchFamily="2" charset="2"/>
              <a:buChar char="Ø"/>
            </a:pPr>
            <a:r>
              <a:rPr lang="en-US" sz="2000" dirty="0">
                <a:solidFill>
                  <a:schemeClr val="tx1">
                    <a:lumMod val="95000"/>
                    <a:lumOff val="5000"/>
                  </a:schemeClr>
                </a:solidFill>
                <a:latin typeface="Arial Narrow" panose="020B0606020202030204" pitchFamily="34" charset="0"/>
              </a:rPr>
              <a:t>Remembering important dates, exams, and deadlines</a:t>
            </a:r>
          </a:p>
          <a:p>
            <a:pPr marL="285750" lvl="0" indent="-285750" eaLnBrk="0">
              <a:spcBef>
                <a:spcPct val="0"/>
              </a:spcBef>
              <a:spcAft>
                <a:spcPct val="0"/>
              </a:spcAft>
              <a:buFont typeface="Wingdings" panose="05000000000000000000" pitchFamily="2" charset="2"/>
              <a:buChar char="Ø"/>
            </a:pPr>
            <a:r>
              <a:rPr lang="en-US" sz="2000" dirty="0">
                <a:solidFill>
                  <a:schemeClr val="tx1">
                    <a:lumMod val="95000"/>
                    <a:lumOff val="5000"/>
                  </a:schemeClr>
                </a:solidFill>
                <a:latin typeface="Arial Narrow" panose="020B0606020202030204" pitchFamily="34" charset="0"/>
              </a:rPr>
              <a:t>Finding personalized and trustworthy study material</a:t>
            </a:r>
          </a:p>
          <a:p>
            <a:pPr marL="285750" lvl="0" indent="-285750" eaLnBrk="0">
              <a:spcBef>
                <a:spcPct val="0"/>
              </a:spcBef>
              <a:spcAft>
                <a:spcPct val="0"/>
              </a:spcAft>
              <a:buFont typeface="Wingdings" panose="05000000000000000000" pitchFamily="2" charset="2"/>
              <a:buChar char="Ø"/>
            </a:pPr>
            <a:r>
              <a:rPr lang="en-US" sz="2000" dirty="0">
                <a:solidFill>
                  <a:schemeClr val="tx1">
                    <a:lumMod val="95000"/>
                    <a:lumOff val="5000"/>
                  </a:schemeClr>
                </a:solidFill>
                <a:latin typeface="Arial Narrow" panose="020B0606020202030204" pitchFamily="34" charset="0"/>
              </a:rPr>
              <a:t>Maintaining consistent study habits</a:t>
            </a:r>
          </a:p>
          <a:p>
            <a:pPr marL="285750" lvl="0" indent="-285750" eaLnBrk="0">
              <a:spcBef>
                <a:spcPct val="0"/>
              </a:spcBef>
              <a:spcAft>
                <a:spcPct val="0"/>
              </a:spcAft>
              <a:buFont typeface="Wingdings" panose="05000000000000000000" pitchFamily="2" charset="2"/>
              <a:buChar char="Ø"/>
            </a:pPr>
            <a:r>
              <a:rPr lang="en-US" sz="2000" dirty="0">
                <a:solidFill>
                  <a:schemeClr val="tx1">
                    <a:lumMod val="95000"/>
                    <a:lumOff val="5000"/>
                  </a:schemeClr>
                </a:solidFill>
                <a:latin typeface="Arial Narrow" panose="020B0606020202030204" pitchFamily="34" charset="0"/>
              </a:rPr>
              <a:t>Handling pressure from family, expectations, and self-image</a:t>
            </a:r>
          </a:p>
          <a:p>
            <a:pPr marL="285750" lvl="0" indent="-285750" eaLnBrk="0">
              <a:spcBef>
                <a:spcPct val="0"/>
              </a:spcBef>
              <a:spcAft>
                <a:spcPct val="0"/>
              </a:spcAft>
              <a:buFont typeface="Wingdings" panose="05000000000000000000" pitchFamily="2" charset="2"/>
              <a:buChar char="Ø"/>
            </a:pPr>
            <a:r>
              <a:rPr lang="en-US" sz="2000" dirty="0">
                <a:solidFill>
                  <a:schemeClr val="tx1">
                    <a:lumMod val="95000"/>
                    <a:lumOff val="5000"/>
                  </a:schemeClr>
                </a:solidFill>
                <a:latin typeface="Arial Narrow" panose="020B0606020202030204" pitchFamily="34" charset="0"/>
              </a:rPr>
              <a:t>Staying focused due to distractions</a:t>
            </a:r>
          </a:p>
          <a:p>
            <a:pPr marL="285750" lvl="0" indent="-285750" eaLnBrk="0">
              <a:spcBef>
                <a:spcPct val="0"/>
              </a:spcBef>
              <a:spcAft>
                <a:spcPct val="0"/>
              </a:spcAft>
              <a:buFont typeface="Wingdings" panose="05000000000000000000" pitchFamily="2" charset="2"/>
              <a:buChar char="Ø"/>
            </a:pPr>
            <a:r>
              <a:rPr lang="en-US" sz="2000" dirty="0">
                <a:solidFill>
                  <a:schemeClr val="tx1">
                    <a:lumMod val="95000"/>
                    <a:lumOff val="5000"/>
                  </a:schemeClr>
                </a:solidFill>
                <a:latin typeface="Arial Narrow" panose="020B0606020202030204" pitchFamily="34" charset="0"/>
              </a:rPr>
              <a:t>Tracking progress and evaluating their own performance Focus Point solves these problems through a guided, structured, and automated learning experience.</a:t>
            </a:r>
            <a:endParaRPr lang="en-IN" sz="2000" dirty="0">
              <a:solidFill>
                <a:schemeClr val="tx1">
                  <a:lumMod val="95000"/>
                  <a:lumOff val="5000"/>
                </a:schemeClr>
              </a:solidFill>
              <a:latin typeface="Arial Narrow" panose="020B0606020202030204" pitchFamily="34" charset="0"/>
            </a:endParaRPr>
          </a:p>
          <a:p>
            <a:pPr lvl="0" eaLnBrk="0">
              <a:spcBef>
                <a:spcPct val="0"/>
              </a:spcBef>
              <a:spcAft>
                <a:spcPct val="0"/>
              </a:spcAft>
            </a:pPr>
            <a:endParaRPr lang="en-IN" sz="1800" dirty="0">
              <a:solidFill>
                <a:schemeClr val="tx1">
                  <a:lumMod val="95000"/>
                  <a:lumOff val="5000"/>
                </a:schemeClr>
              </a:solidFill>
            </a:endParaRPr>
          </a:p>
        </p:txBody>
      </p:sp>
    </p:spTree>
    <p:extLst>
      <p:ext uri="{BB962C8B-B14F-4D97-AF65-F5344CB8AC3E}">
        <p14:creationId xmlns:p14="http://schemas.microsoft.com/office/powerpoint/2010/main" val="44473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E4D5D-2CC3-2399-C9CE-E64420505BA5}"/>
              </a:ext>
            </a:extLst>
          </p:cNvPr>
          <p:cNvSpPr>
            <a:spLocks noGrp="1"/>
          </p:cNvSpPr>
          <p:nvPr>
            <p:ph type="sldNum" sz="quarter" idx="12"/>
          </p:nvPr>
        </p:nvSpPr>
        <p:spPr/>
        <p:txBody>
          <a:bodyPr/>
          <a:lstStyle/>
          <a:p>
            <a:fld id="{35103E41-D638-594C-8347-57CCA9BD2261}" type="slidenum">
              <a:rPr lang="en-US" smtClean="0"/>
              <a:pPr/>
              <a:t>3</a:t>
            </a:fld>
            <a:endParaRPr lang="en-US" dirty="0"/>
          </a:p>
        </p:txBody>
      </p:sp>
      <p:sp>
        <p:nvSpPr>
          <p:cNvPr id="4" name="TextBox 3">
            <a:extLst>
              <a:ext uri="{FF2B5EF4-FFF2-40B4-BE49-F238E27FC236}">
                <a16:creationId xmlns:a16="http://schemas.microsoft.com/office/drawing/2014/main" id="{EFC43E8C-B53B-C9BC-2479-CB3119EBB611}"/>
              </a:ext>
            </a:extLst>
          </p:cNvPr>
          <p:cNvSpPr txBox="1"/>
          <p:nvPr/>
        </p:nvSpPr>
        <p:spPr>
          <a:xfrm>
            <a:off x="1194955" y="935182"/>
            <a:ext cx="9892145" cy="4113725"/>
          </a:xfrm>
          <a:prstGeom prst="rect">
            <a:avLst/>
          </a:prstGeom>
          <a:noFill/>
        </p:spPr>
        <p:txBody>
          <a:bodyPr wrap="square">
            <a:spAutoFit/>
          </a:bodyPr>
          <a:lstStyle/>
          <a:p>
            <a:pPr algn="just">
              <a:lnSpc>
                <a:spcPct val="150000"/>
              </a:lnSpc>
            </a:pPr>
            <a:r>
              <a:rPr lang="en-US" sz="2800" b="1" dirty="0">
                <a:solidFill>
                  <a:srgbClr val="C00000"/>
                </a:solidFill>
                <a:latin typeface="Arial Narrow" panose="020B0606020202030204" pitchFamily="34" charset="0"/>
                <a:ea typeface="Verdana" pitchFamily="34" charset="0"/>
                <a:cs typeface="Verdana" pitchFamily="34" charset="0"/>
              </a:rPr>
              <a:t>Project Abstract:</a:t>
            </a:r>
          </a:p>
          <a:p>
            <a:pPr algn="just">
              <a:lnSpc>
                <a:spcPct val="150000"/>
              </a:lnSpc>
            </a:pPr>
            <a:endParaRPr lang="en-US" b="1" dirty="0">
              <a:solidFill>
                <a:schemeClr val="tx1">
                  <a:lumMod val="95000"/>
                  <a:lumOff val="5000"/>
                </a:schemeClr>
              </a:solidFill>
              <a:latin typeface="Arial Narrow" panose="020B0606020202030204" pitchFamily="34" charset="0"/>
              <a:ea typeface="Verdana" pitchFamily="34" charset="0"/>
              <a:cs typeface="Verdana" pitchFamily="34" charset="0"/>
            </a:endParaRPr>
          </a:p>
          <a:p>
            <a:pPr algn="just">
              <a:lnSpc>
                <a:spcPct val="150000"/>
              </a:lnSpc>
            </a:pPr>
            <a:r>
              <a:rPr lang="en-US" dirty="0">
                <a:solidFill>
                  <a:schemeClr val="tx1">
                    <a:lumMod val="95000"/>
                    <a:lumOff val="5000"/>
                  </a:schemeClr>
                </a:solidFill>
                <a:latin typeface="Arial Narrow" panose="020B0606020202030204" pitchFamily="34" charset="0"/>
                <a:ea typeface="Verdana" pitchFamily="34" charset="0"/>
                <a:cs typeface="Verdana" pitchFamily="34" charset="0"/>
              </a:rPr>
              <a:t>Focus Point is an AI-powered study and productivity assistant designed to help students manage time, reduce mental pressure, track learning progress, and maintain consistency. It unifies personalized notes, smart notifications, goal tracking, exam calendars, and resource recommendations into one integrated platform. </a:t>
            </a:r>
          </a:p>
          <a:p>
            <a:pPr algn="just">
              <a:lnSpc>
                <a:spcPct val="150000"/>
              </a:lnSpc>
            </a:pPr>
            <a:endParaRPr lang="en-US" dirty="0">
              <a:solidFill>
                <a:schemeClr val="tx1">
                  <a:lumMod val="95000"/>
                  <a:lumOff val="5000"/>
                </a:schemeClr>
              </a:solidFill>
              <a:latin typeface="Arial Narrow" panose="020B0606020202030204" pitchFamily="34" charset="0"/>
              <a:ea typeface="Verdana" pitchFamily="34" charset="0"/>
              <a:cs typeface="Verdana" pitchFamily="34" charset="0"/>
            </a:endParaRPr>
          </a:p>
          <a:p>
            <a:pPr algn="just">
              <a:lnSpc>
                <a:spcPct val="150000"/>
              </a:lnSpc>
            </a:pPr>
            <a:r>
              <a:rPr lang="en-US" dirty="0">
                <a:solidFill>
                  <a:schemeClr val="tx1">
                    <a:lumMod val="95000"/>
                    <a:lumOff val="5000"/>
                  </a:schemeClr>
                </a:solidFill>
                <a:latin typeface="Arial Narrow" panose="020B0606020202030204" pitchFamily="34" charset="0"/>
                <a:ea typeface="Verdana" pitchFamily="34" charset="0"/>
                <a:cs typeface="Verdana" pitchFamily="34" charset="0"/>
              </a:rPr>
              <a:t>The system helps learners overcome academic stress, distractions, and unstructured study patterns by providing a guided, organized, and supportive digital workspace. Focus Point aims to create a learning experience that is efficient, personalized, and emotionally reassuring.</a:t>
            </a:r>
            <a:endParaRPr lang="en-IN" dirty="0">
              <a:solidFill>
                <a:schemeClr val="tx1">
                  <a:lumMod val="95000"/>
                  <a:lumOff val="5000"/>
                </a:schemeClr>
              </a:solidFill>
              <a:latin typeface="Arial Narrow" panose="020B0606020202030204" pitchFamily="34" charset="0"/>
              <a:ea typeface="Verdana" pitchFamily="34" charset="0"/>
              <a:cs typeface="Verdana" pitchFamily="34" charset="0"/>
            </a:endParaRPr>
          </a:p>
        </p:txBody>
      </p:sp>
    </p:spTree>
    <p:extLst>
      <p:ext uri="{BB962C8B-B14F-4D97-AF65-F5344CB8AC3E}">
        <p14:creationId xmlns:p14="http://schemas.microsoft.com/office/powerpoint/2010/main" val="2843211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BC216A-ED1F-C2AF-F8EA-67C1C4B52AA3}"/>
              </a:ext>
            </a:extLst>
          </p:cNvPr>
          <p:cNvSpPr>
            <a:spLocks noGrp="1"/>
          </p:cNvSpPr>
          <p:nvPr>
            <p:ph type="sldNum" sz="quarter" idx="12"/>
          </p:nvPr>
        </p:nvSpPr>
        <p:spPr/>
        <p:txBody>
          <a:bodyPr/>
          <a:lstStyle/>
          <a:p>
            <a:fld id="{35103E41-D638-594C-8347-57CCA9BD2261}" type="slidenum">
              <a:rPr lang="en-US" smtClean="0"/>
              <a:pPr/>
              <a:t>4</a:t>
            </a:fld>
            <a:endParaRPr lang="en-US" dirty="0"/>
          </a:p>
        </p:txBody>
      </p:sp>
      <p:sp>
        <p:nvSpPr>
          <p:cNvPr id="5" name="TextBox 4">
            <a:extLst>
              <a:ext uri="{FF2B5EF4-FFF2-40B4-BE49-F238E27FC236}">
                <a16:creationId xmlns:a16="http://schemas.microsoft.com/office/drawing/2014/main" id="{F20B5C1B-8564-094E-ED2F-C8732AF64AC6}"/>
              </a:ext>
            </a:extLst>
          </p:cNvPr>
          <p:cNvSpPr txBox="1"/>
          <p:nvPr/>
        </p:nvSpPr>
        <p:spPr>
          <a:xfrm>
            <a:off x="1377387" y="983847"/>
            <a:ext cx="7764016" cy="4031873"/>
          </a:xfrm>
          <a:prstGeom prst="rect">
            <a:avLst/>
          </a:prstGeom>
          <a:noFill/>
        </p:spPr>
        <p:txBody>
          <a:bodyPr wrap="square">
            <a:spAutoFit/>
          </a:bodyPr>
          <a:lstStyle/>
          <a:p>
            <a:r>
              <a:rPr lang="en-IN" sz="3600" dirty="0">
                <a:solidFill>
                  <a:srgbClr val="C00000"/>
                </a:solidFill>
                <a:latin typeface="Arial Narrow" panose="020B0606020202030204" pitchFamily="34" charset="0"/>
              </a:rPr>
              <a:t>Core Ideas:</a:t>
            </a:r>
          </a:p>
          <a:p>
            <a:endParaRPr lang="en-IN" sz="3600" dirty="0">
              <a:solidFill>
                <a:srgbClr val="C00000"/>
              </a:solidFill>
              <a:latin typeface="Arial Narrow" panose="020B0606020202030204" pitchFamily="34" charset="0"/>
            </a:endParaRPr>
          </a:p>
          <a:p>
            <a:pPr marL="342900" indent="-342900">
              <a:buFont typeface="Wingdings" panose="05000000000000000000" pitchFamily="2" charset="2"/>
              <a:buChar char="Ø"/>
            </a:pPr>
            <a:r>
              <a:rPr lang="en-US" altLang="en-US" sz="2400" dirty="0">
                <a:latin typeface="Arial Narrow" panose="020B0606020202030204" pitchFamily="34" charset="0"/>
              </a:rPr>
              <a:t>Learning should be simple, not stressful.</a:t>
            </a:r>
          </a:p>
          <a:p>
            <a:pPr marL="342900" indent="-342900">
              <a:buFont typeface="Wingdings" panose="05000000000000000000" pitchFamily="2" charset="2"/>
              <a:buChar char="Ø"/>
            </a:pPr>
            <a:r>
              <a:rPr lang="en-US" altLang="en-US" sz="2400" dirty="0">
                <a:latin typeface="Arial Narrow" panose="020B0606020202030204" pitchFamily="34" charset="0"/>
              </a:rPr>
              <a:t>A student needs clarity more than complexity.</a:t>
            </a:r>
          </a:p>
          <a:p>
            <a:pPr marL="342900" indent="-342900">
              <a:buFont typeface="Wingdings" panose="05000000000000000000" pitchFamily="2" charset="2"/>
              <a:buChar char="Ø"/>
            </a:pPr>
            <a:r>
              <a:rPr lang="en-US" altLang="en-US" sz="2400" dirty="0">
                <a:latin typeface="Arial Narrow" panose="020B0606020202030204" pitchFamily="34" charset="0"/>
              </a:rPr>
              <a:t>Consistency is more powerful than talent.</a:t>
            </a:r>
          </a:p>
          <a:p>
            <a:pPr marL="342900" indent="-342900">
              <a:buFont typeface="Wingdings" panose="05000000000000000000" pitchFamily="2" charset="2"/>
              <a:buChar char="Ø"/>
            </a:pPr>
            <a:r>
              <a:rPr lang="en-US" altLang="en-US" sz="2400" dirty="0">
                <a:latin typeface="Arial Narrow" panose="020B0606020202030204" pitchFamily="34" charset="0"/>
              </a:rPr>
              <a:t>Smart tools reduce burden and increase performance.</a:t>
            </a:r>
          </a:p>
          <a:p>
            <a:pPr marL="342900" indent="-342900">
              <a:buFont typeface="Wingdings" panose="05000000000000000000" pitchFamily="2" charset="2"/>
              <a:buChar char="Ø"/>
            </a:pPr>
            <a:r>
              <a:rPr lang="en-US" altLang="en-US" sz="2400" dirty="0">
                <a:latin typeface="Arial Narrow" panose="020B0606020202030204" pitchFamily="34" charset="0"/>
              </a:rPr>
              <a:t>Organization helps reduce anxiety and confusion.</a:t>
            </a:r>
          </a:p>
          <a:p>
            <a:pPr marL="342900" indent="-342900">
              <a:buFont typeface="Wingdings" panose="05000000000000000000" pitchFamily="2" charset="2"/>
              <a:buChar char="Ø"/>
            </a:pPr>
            <a:r>
              <a:rPr lang="en-US" altLang="en-US" sz="2400" dirty="0">
                <a:latin typeface="Arial Narrow" panose="020B0606020202030204" pitchFamily="34" charset="0"/>
              </a:rPr>
              <a:t>A student performs better when systems support them.</a:t>
            </a:r>
            <a:br>
              <a:rPr lang="en-US" altLang="en-US" b="1" dirty="0">
                <a:solidFill>
                  <a:schemeClr val="accent4"/>
                </a:solidFill>
                <a:latin typeface="Arial" panose="020B0604020202020204" pitchFamily="34" charset="0"/>
              </a:rPr>
            </a:br>
            <a:br>
              <a:rPr lang="en-US" altLang="en-US" b="1" dirty="0">
                <a:solidFill>
                  <a:schemeClr val="accent4"/>
                </a:solidFill>
                <a:latin typeface="Arial" panose="020B0604020202020204" pitchFamily="34" charset="0"/>
              </a:rPr>
            </a:br>
            <a:endParaRPr lang="en-IN" dirty="0">
              <a:latin typeface="Arial Narrow" panose="020B0606020202030204" pitchFamily="34" charset="0"/>
            </a:endParaRPr>
          </a:p>
        </p:txBody>
      </p:sp>
    </p:spTree>
    <p:extLst>
      <p:ext uri="{BB962C8B-B14F-4D97-AF65-F5344CB8AC3E}">
        <p14:creationId xmlns:p14="http://schemas.microsoft.com/office/powerpoint/2010/main" val="139589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B40D17-1C4E-F19D-E9F1-9A896EC15B37}"/>
              </a:ext>
            </a:extLst>
          </p:cNvPr>
          <p:cNvSpPr>
            <a:spLocks noGrp="1"/>
          </p:cNvSpPr>
          <p:nvPr>
            <p:ph type="sldNum" sz="quarter" idx="12"/>
          </p:nvPr>
        </p:nvSpPr>
        <p:spPr/>
        <p:txBody>
          <a:bodyPr/>
          <a:lstStyle/>
          <a:p>
            <a:fld id="{35103E41-D638-594C-8347-57CCA9BD2261}" type="slidenum">
              <a:rPr lang="en-US" smtClean="0"/>
              <a:pPr/>
              <a:t>5</a:t>
            </a:fld>
            <a:endParaRPr lang="en-US" dirty="0"/>
          </a:p>
        </p:txBody>
      </p:sp>
      <p:sp>
        <p:nvSpPr>
          <p:cNvPr id="4" name="TextBox 3">
            <a:extLst>
              <a:ext uri="{FF2B5EF4-FFF2-40B4-BE49-F238E27FC236}">
                <a16:creationId xmlns:a16="http://schemas.microsoft.com/office/drawing/2014/main" id="{EEEAF8BB-3AFC-518D-8435-03444EC8145F}"/>
              </a:ext>
            </a:extLst>
          </p:cNvPr>
          <p:cNvSpPr txBox="1"/>
          <p:nvPr/>
        </p:nvSpPr>
        <p:spPr>
          <a:xfrm>
            <a:off x="972273" y="636609"/>
            <a:ext cx="11076973" cy="5447645"/>
          </a:xfrm>
          <a:prstGeom prst="rect">
            <a:avLst/>
          </a:prstGeom>
          <a:noFill/>
        </p:spPr>
        <p:txBody>
          <a:bodyPr wrap="square">
            <a:spAutoFit/>
          </a:bodyPr>
          <a:lstStyle/>
          <a:p>
            <a:pPr lvl="0" algn="l" rtl="0" eaLnBrk="0" fontAlgn="base" hangingPunct="0">
              <a:spcBef>
                <a:spcPct val="0"/>
              </a:spcBef>
              <a:spcAft>
                <a:spcPct val="0"/>
              </a:spcAft>
            </a:pPr>
            <a:endParaRPr lang="en-US" altLang="en-US" sz="2800" b="1" dirty="0">
              <a:solidFill>
                <a:srgbClr val="C00000"/>
              </a:solidFill>
              <a:latin typeface="Arial Narrow" panose="020B0606020202030204" pitchFamily="34" charset="0"/>
            </a:endParaRPr>
          </a:p>
          <a:p>
            <a:pPr lvl="0" algn="l" rtl="0" eaLnBrk="0" fontAlgn="base" hangingPunct="0">
              <a:spcBef>
                <a:spcPct val="0"/>
              </a:spcBef>
              <a:spcAft>
                <a:spcPct val="0"/>
              </a:spcAft>
            </a:pPr>
            <a:r>
              <a:rPr lang="en-US" altLang="en-US" sz="2800" b="1" dirty="0">
                <a:solidFill>
                  <a:srgbClr val="C00000"/>
                </a:solidFill>
                <a:latin typeface="Arial Narrow" panose="020B0606020202030204" pitchFamily="34" charset="0"/>
              </a:rPr>
              <a:t>Key features:</a:t>
            </a:r>
          </a:p>
          <a:p>
            <a:pPr lvl="0" algn="l" rtl="0" eaLnBrk="0" fontAlgn="base" hangingPunct="0">
              <a:spcBef>
                <a:spcPct val="0"/>
              </a:spcBef>
              <a:spcAft>
                <a:spcPct val="0"/>
              </a:spcAft>
            </a:pPr>
            <a:endParaRPr lang="en-US" altLang="en-US" sz="2800" b="1" dirty="0">
              <a:solidFill>
                <a:srgbClr val="C00000"/>
              </a:solidFill>
              <a:latin typeface="Arial Narrow" panose="020B0606020202030204" pitchFamily="34" charset="0"/>
            </a:endParaRPr>
          </a:p>
          <a:p>
            <a:pPr marL="342900" lvl="0" indent="-342900" algn="l" rtl="0" eaLnBrk="0" fontAlgn="base" hangingPunct="0">
              <a:spcBef>
                <a:spcPct val="0"/>
              </a:spcBef>
              <a:spcAft>
                <a:spcPct val="0"/>
              </a:spcAft>
              <a:buFont typeface="Wingdings" panose="05000000000000000000" pitchFamily="2" charset="2"/>
              <a:buChar char="Ø"/>
            </a:pPr>
            <a:r>
              <a:rPr lang="en-US" altLang="en-US" sz="2400" dirty="0">
                <a:solidFill>
                  <a:schemeClr val="tx1">
                    <a:lumMod val="95000"/>
                    <a:lumOff val="5000"/>
                  </a:schemeClr>
                </a:solidFill>
                <a:latin typeface="Arial Narrow" panose="020B0606020202030204" pitchFamily="34" charset="0"/>
              </a:rPr>
              <a:t>Personalized Smart Notes Automatically generated short, simple, easy-to-remember notes tailored to the student’s syllabus and needs.</a:t>
            </a:r>
            <a:r>
              <a:rPr kumimoji="0" lang="en-US" altLang="en-US" sz="2400" b="0" i="0" u="none" strike="noStrike" cap="none" normalizeH="0" baseline="0" dirty="0">
                <a:ln>
                  <a:noFill/>
                </a:ln>
                <a:solidFill>
                  <a:schemeClr val="tx1">
                    <a:lumMod val="95000"/>
                    <a:lumOff val="5000"/>
                  </a:schemeClr>
                </a:solidFill>
                <a:effectLst/>
                <a:latin typeface="Arial Narrow" panose="020B0606020202030204" pitchFamily="34" charset="0"/>
              </a:rPr>
              <a:t>.</a:t>
            </a:r>
          </a:p>
          <a:p>
            <a:pPr marL="342900" lvl="0" indent="-342900" algn="l" rtl="0" eaLnBrk="0" fontAlgn="base" hangingPunct="0">
              <a:spcBef>
                <a:spcPct val="0"/>
              </a:spcBef>
              <a:spcAft>
                <a:spcPct val="0"/>
              </a:spcAft>
              <a:buFont typeface="Wingdings" panose="05000000000000000000" pitchFamily="2" charset="2"/>
              <a:buChar char="Ø"/>
            </a:pPr>
            <a:r>
              <a:rPr lang="en-US" altLang="en-US" sz="2400" dirty="0">
                <a:solidFill>
                  <a:schemeClr val="tx1">
                    <a:lumMod val="95000"/>
                    <a:lumOff val="5000"/>
                  </a:schemeClr>
                </a:solidFill>
                <a:latin typeface="Arial Narrow" panose="020B0606020202030204" pitchFamily="34" charset="0"/>
              </a:rPr>
              <a:t>Comprehensive Resource Collection Curated subject-wise PDFs, books, links, videos, and materials.</a:t>
            </a:r>
          </a:p>
          <a:p>
            <a:pPr marL="342900" lvl="0" indent="-342900" algn="l" rtl="0" eaLnBrk="0" fontAlgn="base" hangingPunct="0">
              <a:spcBef>
                <a:spcPct val="0"/>
              </a:spcBef>
              <a:spcAft>
                <a:spcPct val="0"/>
              </a:spcAft>
              <a:buFont typeface="Wingdings" panose="05000000000000000000" pitchFamily="2" charset="2"/>
              <a:buChar char="Ø"/>
            </a:pPr>
            <a:r>
              <a:rPr lang="en-US" altLang="en-US" sz="2400" dirty="0">
                <a:solidFill>
                  <a:schemeClr val="tx1">
                    <a:lumMod val="95000"/>
                    <a:lumOff val="5000"/>
                  </a:schemeClr>
                </a:solidFill>
                <a:latin typeface="Arial Narrow" panose="020B0606020202030204" pitchFamily="34" charset="0"/>
              </a:rPr>
              <a:t>Smart Exam Calendar tracks exams, deadlines, and important dates with reminders.</a:t>
            </a:r>
          </a:p>
          <a:p>
            <a:pPr marL="342900" lvl="0" indent="-342900" algn="l" rtl="0" eaLnBrk="0" fontAlgn="base" hangingPunct="0">
              <a:spcBef>
                <a:spcPct val="0"/>
              </a:spcBef>
              <a:spcAft>
                <a:spcPct val="0"/>
              </a:spcAft>
              <a:buFont typeface="Wingdings" panose="05000000000000000000" pitchFamily="2" charset="2"/>
              <a:buChar char="Ø"/>
            </a:pPr>
            <a:r>
              <a:rPr lang="en-US" altLang="en-US" sz="2400" dirty="0">
                <a:solidFill>
                  <a:schemeClr val="tx1">
                    <a:lumMod val="95000"/>
                    <a:lumOff val="5000"/>
                  </a:schemeClr>
                </a:solidFill>
                <a:latin typeface="Arial Narrow" panose="020B0606020202030204" pitchFamily="34" charset="0"/>
              </a:rPr>
              <a:t>AI-Powered Study Assistant Helps explain concepts, answer doubts, plan study schedules, and guide progress.</a:t>
            </a:r>
          </a:p>
          <a:p>
            <a:pPr marL="342900" lvl="0" indent="-342900" algn="l" rtl="0" eaLnBrk="0" fontAlgn="base" hangingPunct="0">
              <a:spcBef>
                <a:spcPct val="0"/>
              </a:spcBef>
              <a:spcAft>
                <a:spcPct val="0"/>
              </a:spcAft>
              <a:buFont typeface="Wingdings" panose="05000000000000000000" pitchFamily="2" charset="2"/>
              <a:buChar char="Ø"/>
            </a:pPr>
            <a:r>
              <a:rPr lang="en-US" altLang="en-US" sz="2400" dirty="0">
                <a:solidFill>
                  <a:schemeClr val="tx1">
                    <a:lumMod val="95000"/>
                    <a:lumOff val="5000"/>
                  </a:schemeClr>
                </a:solidFill>
                <a:latin typeface="Arial Narrow" panose="020B0606020202030204" pitchFamily="34" charset="0"/>
              </a:rPr>
              <a:t>Notifications &amp; Alerts Gentle reminders for study tasks, pending topics, and new resources.</a:t>
            </a:r>
          </a:p>
          <a:p>
            <a:pPr marL="342900" lvl="0" indent="-342900" algn="l" rtl="0" eaLnBrk="0" fontAlgn="base" hangingPunct="0">
              <a:spcBef>
                <a:spcPct val="0"/>
              </a:spcBef>
              <a:spcAft>
                <a:spcPct val="0"/>
              </a:spcAft>
              <a:buFont typeface="Wingdings" panose="05000000000000000000" pitchFamily="2" charset="2"/>
              <a:buChar char="Ø"/>
            </a:pPr>
            <a:r>
              <a:rPr lang="en-US" altLang="en-US" sz="2400" dirty="0">
                <a:solidFill>
                  <a:schemeClr val="tx1">
                    <a:lumMod val="95000"/>
                    <a:lumOff val="5000"/>
                  </a:schemeClr>
                </a:solidFill>
                <a:latin typeface="Arial Narrow" panose="020B0606020202030204" pitchFamily="34" charset="0"/>
              </a:rPr>
              <a:t>Recent History Tracking Automatically records actions so students can quickly revisit past work.</a:t>
            </a:r>
          </a:p>
          <a:p>
            <a:pPr marL="342900" lvl="0" indent="-342900" algn="l" rtl="0" eaLnBrk="0" fontAlgn="base" hangingPunct="0">
              <a:spcBef>
                <a:spcPct val="0"/>
              </a:spcBef>
              <a:spcAft>
                <a:spcPct val="0"/>
              </a:spcAft>
              <a:buFont typeface="Wingdings" panose="05000000000000000000" pitchFamily="2" charset="2"/>
              <a:buChar char="Ø"/>
            </a:pPr>
            <a:r>
              <a:rPr lang="en-US" altLang="en-US" sz="2400" dirty="0">
                <a:solidFill>
                  <a:schemeClr val="tx1">
                    <a:lumMod val="95000"/>
                    <a:lumOff val="5000"/>
                  </a:schemeClr>
                </a:solidFill>
                <a:latin typeface="Arial Narrow" panose="020B0606020202030204" pitchFamily="34" charset="0"/>
              </a:rPr>
              <a:t>Notes App &amp; Bookmarks Save important topics, questions, and links.</a:t>
            </a:r>
            <a:endParaRPr kumimoji="0" lang="en-US" altLang="en-US" sz="2400" b="0" i="0" u="none" strike="noStrike" cap="none" normalizeH="0" baseline="0" dirty="0">
              <a:ln>
                <a:noFill/>
              </a:ln>
              <a:solidFill>
                <a:schemeClr val="tx1">
                  <a:lumMod val="95000"/>
                  <a:lumOff val="5000"/>
                </a:schemeClr>
              </a:solidFill>
              <a:effectLst/>
              <a:latin typeface="Arial Narrow" panose="020B0606020202030204" pitchFamily="34" charset="0"/>
            </a:endParaRPr>
          </a:p>
        </p:txBody>
      </p:sp>
    </p:spTree>
    <p:extLst>
      <p:ext uri="{BB962C8B-B14F-4D97-AF65-F5344CB8AC3E}">
        <p14:creationId xmlns:p14="http://schemas.microsoft.com/office/powerpoint/2010/main" val="400555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EA7C7-7727-73DA-46F6-F39A5A7C3AF6}"/>
              </a:ext>
            </a:extLst>
          </p:cNvPr>
          <p:cNvSpPr>
            <a:spLocks noGrp="1"/>
          </p:cNvSpPr>
          <p:nvPr>
            <p:ph type="sldNum" sz="quarter" idx="12"/>
          </p:nvPr>
        </p:nvSpPr>
        <p:spPr/>
        <p:txBody>
          <a:bodyPr/>
          <a:lstStyle/>
          <a:p>
            <a:fld id="{35103E41-D638-594C-8347-57CCA9BD2261}" type="slidenum">
              <a:rPr lang="en-US" smtClean="0"/>
              <a:pPr/>
              <a:t>6</a:t>
            </a:fld>
            <a:endParaRPr lang="en-US" dirty="0"/>
          </a:p>
        </p:txBody>
      </p:sp>
      <p:sp>
        <p:nvSpPr>
          <p:cNvPr id="5" name="TextBox 4">
            <a:extLst>
              <a:ext uri="{FF2B5EF4-FFF2-40B4-BE49-F238E27FC236}">
                <a16:creationId xmlns:a16="http://schemas.microsoft.com/office/drawing/2014/main" id="{57BA32D9-AFFD-2506-A41C-1DA71D41074B}"/>
              </a:ext>
            </a:extLst>
          </p:cNvPr>
          <p:cNvSpPr txBox="1"/>
          <p:nvPr/>
        </p:nvSpPr>
        <p:spPr>
          <a:xfrm>
            <a:off x="1300048" y="925975"/>
            <a:ext cx="10891952" cy="3847207"/>
          </a:xfrm>
          <a:prstGeom prst="rect">
            <a:avLst/>
          </a:prstGeom>
          <a:noFill/>
        </p:spPr>
        <p:txBody>
          <a:bodyPr wrap="square" rtlCol="0">
            <a:spAutoFit/>
          </a:bodyPr>
          <a:lstStyle/>
          <a:p>
            <a:r>
              <a:rPr lang="en-IN" sz="3600" dirty="0">
                <a:solidFill>
                  <a:srgbClr val="C00000"/>
                </a:solidFill>
                <a:latin typeface="Arial Narrow" panose="020B0606020202030204" pitchFamily="34" charset="0"/>
              </a:rPr>
              <a:t>System Overview:</a:t>
            </a:r>
          </a:p>
          <a:p>
            <a:br>
              <a:rPr lang="en-IN" sz="3600" dirty="0">
                <a:solidFill>
                  <a:schemeClr val="accent1"/>
                </a:solidFill>
                <a:latin typeface="Arial Narrow" panose="020B0606020202030204" pitchFamily="34" charset="0"/>
              </a:rPr>
            </a:br>
            <a:r>
              <a:rPr lang="en-IN" sz="2800" dirty="0">
                <a:solidFill>
                  <a:schemeClr val="tx1">
                    <a:lumMod val="95000"/>
                    <a:lumOff val="5000"/>
                  </a:schemeClr>
                </a:solidFill>
                <a:latin typeface="Arial Narrow" panose="020B0606020202030204" pitchFamily="34" charset="0"/>
              </a:rPr>
              <a:t>Focus Point architecture includes:</a:t>
            </a:r>
          </a:p>
          <a:p>
            <a:pPr marL="342900" indent="-342900">
              <a:buFont typeface="Wingdings" panose="05000000000000000000" pitchFamily="2" charset="2"/>
              <a:buChar char="Ø"/>
            </a:pPr>
            <a:r>
              <a:rPr lang="en-IN" sz="2400" dirty="0">
                <a:solidFill>
                  <a:schemeClr val="tx1">
                    <a:lumMod val="95000"/>
                    <a:lumOff val="5000"/>
                  </a:schemeClr>
                </a:solidFill>
                <a:latin typeface="Arial Narrow" panose="020B0606020202030204" pitchFamily="34" charset="0"/>
              </a:rPr>
              <a:t>Frontend (React.js) – User interface, interactive components.</a:t>
            </a:r>
          </a:p>
          <a:p>
            <a:pPr marL="342900" indent="-342900">
              <a:buFont typeface="Wingdings" panose="05000000000000000000" pitchFamily="2" charset="2"/>
              <a:buChar char="Ø"/>
            </a:pPr>
            <a:r>
              <a:rPr lang="en-US" sz="2400" dirty="0">
                <a:solidFill>
                  <a:schemeClr val="tx1">
                    <a:lumMod val="95000"/>
                    <a:lumOff val="5000"/>
                  </a:schemeClr>
                </a:solidFill>
                <a:latin typeface="Arial Narrow" panose="020B0606020202030204" pitchFamily="34" charset="0"/>
              </a:rPr>
              <a:t>Backend (Node.js + Express) – APIs, data handling, history, notes, exams.</a:t>
            </a:r>
          </a:p>
          <a:p>
            <a:pPr marL="342900" indent="-342900">
              <a:buFont typeface="Wingdings" panose="05000000000000000000" pitchFamily="2" charset="2"/>
              <a:buChar char="Ø"/>
            </a:pPr>
            <a:r>
              <a:rPr lang="en-US" sz="2400" dirty="0">
                <a:solidFill>
                  <a:schemeClr val="tx1">
                    <a:lumMod val="95000"/>
                    <a:lumOff val="5000"/>
                  </a:schemeClr>
                </a:solidFill>
                <a:latin typeface="Arial Narrow" panose="020B0606020202030204" pitchFamily="34" charset="0"/>
              </a:rPr>
              <a:t>JSON, Local Database(for temporary </a:t>
            </a:r>
            <a:r>
              <a:rPr lang="en-US" sz="2400" dirty="0" err="1">
                <a:solidFill>
                  <a:schemeClr val="tx1">
                    <a:lumMod val="95000"/>
                    <a:lumOff val="5000"/>
                  </a:schemeClr>
                </a:solidFill>
                <a:latin typeface="Arial Narrow" panose="020B0606020202030204" pitchFamily="34" charset="0"/>
              </a:rPr>
              <a:t>pupose</a:t>
            </a:r>
            <a:r>
              <a:rPr lang="en-US" sz="2400" dirty="0">
                <a:solidFill>
                  <a:schemeClr val="tx1">
                    <a:lumMod val="95000"/>
                    <a:lumOff val="5000"/>
                  </a:schemeClr>
                </a:solidFill>
                <a:latin typeface="Arial Narrow" panose="020B0606020202030204" pitchFamily="34" charset="0"/>
              </a:rPr>
              <a:t>) – Stores events, notes, users, history, bookmarks.</a:t>
            </a:r>
          </a:p>
          <a:p>
            <a:pPr marL="342900" indent="-342900">
              <a:buFont typeface="Wingdings" panose="05000000000000000000" pitchFamily="2" charset="2"/>
              <a:buChar char="Ø"/>
            </a:pPr>
            <a:r>
              <a:rPr lang="en-US" sz="2400" dirty="0">
                <a:solidFill>
                  <a:schemeClr val="tx1">
                    <a:lumMod val="95000"/>
                    <a:lumOff val="5000"/>
                  </a:schemeClr>
                </a:solidFill>
                <a:latin typeface="Arial Narrow" panose="020B0606020202030204" pitchFamily="34" charset="0"/>
              </a:rPr>
              <a:t>AI Assistant (Client-side logic) – for study planning and expressing notes.</a:t>
            </a:r>
          </a:p>
          <a:p>
            <a:pPr marL="342900" indent="-342900">
              <a:buFont typeface="Wingdings" panose="05000000000000000000" pitchFamily="2" charset="2"/>
              <a:buChar char="Ø"/>
            </a:pPr>
            <a:r>
              <a:rPr lang="fr-FR" sz="2400" dirty="0" err="1">
                <a:solidFill>
                  <a:schemeClr val="tx1">
                    <a:lumMod val="95000"/>
                    <a:lumOff val="5000"/>
                  </a:schemeClr>
                </a:solidFill>
                <a:latin typeface="Arial Narrow" panose="020B0606020202030204" pitchFamily="34" charset="0"/>
              </a:rPr>
              <a:t>Modular</a:t>
            </a:r>
            <a:r>
              <a:rPr lang="fr-FR" sz="2400" dirty="0">
                <a:solidFill>
                  <a:schemeClr val="tx1">
                    <a:lumMod val="95000"/>
                    <a:lumOff val="5000"/>
                  </a:schemeClr>
                </a:solidFill>
                <a:latin typeface="Arial Narrow" panose="020B0606020202030204" pitchFamily="34" charset="0"/>
              </a:rPr>
              <a:t> Components – </a:t>
            </a:r>
            <a:r>
              <a:rPr lang="fr-FR" sz="2400" dirty="0" err="1">
                <a:solidFill>
                  <a:schemeClr val="tx1">
                    <a:lumMod val="95000"/>
                    <a:lumOff val="5000"/>
                  </a:schemeClr>
                </a:solidFill>
                <a:latin typeface="Arial Narrow" panose="020B0606020202030204" pitchFamily="34" charset="0"/>
              </a:rPr>
              <a:t>history</a:t>
            </a:r>
            <a:r>
              <a:rPr lang="fr-FR" sz="2400" dirty="0">
                <a:solidFill>
                  <a:schemeClr val="tx1">
                    <a:lumMod val="95000"/>
                    <a:lumOff val="5000"/>
                  </a:schemeClr>
                </a:solidFill>
                <a:latin typeface="Arial Narrow" panose="020B0606020202030204" pitchFamily="34" charset="0"/>
              </a:rPr>
              <a:t>, notes, </a:t>
            </a:r>
            <a:r>
              <a:rPr lang="fr-FR" sz="2400" dirty="0" err="1">
                <a:solidFill>
                  <a:schemeClr val="tx1">
                    <a:lumMod val="95000"/>
                    <a:lumOff val="5000"/>
                  </a:schemeClr>
                </a:solidFill>
                <a:latin typeface="Arial Narrow" panose="020B0606020202030204" pitchFamily="34" charset="0"/>
              </a:rPr>
              <a:t>calendar</a:t>
            </a:r>
            <a:r>
              <a:rPr lang="fr-FR" sz="2400" dirty="0">
                <a:solidFill>
                  <a:schemeClr val="tx1">
                    <a:lumMod val="95000"/>
                    <a:lumOff val="5000"/>
                  </a:schemeClr>
                </a:solidFill>
                <a:latin typeface="Arial Narrow" panose="020B0606020202030204" pitchFamily="34" charset="0"/>
              </a:rPr>
              <a:t>, notifications, etc.</a:t>
            </a:r>
            <a:endParaRPr lang="en-IN" sz="2400" dirty="0">
              <a:solidFill>
                <a:schemeClr val="tx1">
                  <a:lumMod val="95000"/>
                  <a:lumOff val="5000"/>
                </a:schemeClr>
              </a:solidFill>
              <a:latin typeface="Arial Narrow" panose="020B0606020202030204" pitchFamily="34" charset="0"/>
            </a:endParaRPr>
          </a:p>
        </p:txBody>
      </p:sp>
    </p:spTree>
    <p:extLst>
      <p:ext uri="{BB962C8B-B14F-4D97-AF65-F5344CB8AC3E}">
        <p14:creationId xmlns:p14="http://schemas.microsoft.com/office/powerpoint/2010/main" val="114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C1674E-DF9B-BCF0-5C79-8700513FC0B5}"/>
              </a:ext>
            </a:extLst>
          </p:cNvPr>
          <p:cNvSpPr>
            <a:spLocks noGrp="1"/>
          </p:cNvSpPr>
          <p:nvPr>
            <p:ph type="sldNum" sz="quarter" idx="12"/>
          </p:nvPr>
        </p:nvSpPr>
        <p:spPr/>
        <p:txBody>
          <a:bodyPr/>
          <a:lstStyle/>
          <a:p>
            <a:fld id="{35103E41-D638-594C-8347-57CCA9BD2261}" type="slidenum">
              <a:rPr lang="en-US" smtClean="0"/>
              <a:pPr/>
              <a:t>7</a:t>
            </a:fld>
            <a:endParaRPr lang="en-US" dirty="0"/>
          </a:p>
        </p:txBody>
      </p:sp>
      <p:sp>
        <p:nvSpPr>
          <p:cNvPr id="4" name="TextBox 3">
            <a:extLst>
              <a:ext uri="{FF2B5EF4-FFF2-40B4-BE49-F238E27FC236}">
                <a16:creationId xmlns:a16="http://schemas.microsoft.com/office/drawing/2014/main" id="{89BFA5A6-536B-E361-3397-B0FCC6A27314}"/>
              </a:ext>
            </a:extLst>
          </p:cNvPr>
          <p:cNvSpPr txBox="1"/>
          <p:nvPr/>
        </p:nvSpPr>
        <p:spPr>
          <a:xfrm>
            <a:off x="1088020" y="763930"/>
            <a:ext cx="8053086" cy="584775"/>
          </a:xfrm>
          <a:prstGeom prst="rect">
            <a:avLst/>
          </a:prstGeom>
          <a:noFill/>
        </p:spPr>
        <p:txBody>
          <a:bodyPr wrap="square">
            <a:spAutoFit/>
          </a:bodyPr>
          <a:lstStyle/>
          <a:p>
            <a:r>
              <a:rPr lang="en-IN" sz="3200" dirty="0">
                <a:solidFill>
                  <a:srgbClr val="C00000"/>
                </a:solidFill>
                <a:latin typeface="Arial Narrow" panose="020B0606020202030204" pitchFamily="34" charset="0"/>
              </a:rPr>
              <a:t> </a:t>
            </a:r>
            <a:r>
              <a:rPr lang="en-IN" sz="2400" dirty="0">
                <a:solidFill>
                  <a:srgbClr val="C00000"/>
                </a:solidFill>
                <a:latin typeface="Arial Narrow" panose="020B0606020202030204" pitchFamily="34" charset="0"/>
              </a:rPr>
              <a:t>Architecture of Focus-point</a:t>
            </a:r>
            <a:r>
              <a:rPr lang="en-IN" sz="3200" dirty="0">
                <a:solidFill>
                  <a:srgbClr val="C00000"/>
                </a:solidFill>
                <a:latin typeface="Arial Narrow" panose="020B0606020202030204" pitchFamily="34" charset="0"/>
              </a:rPr>
              <a:t>:</a:t>
            </a:r>
            <a:endParaRPr lang="en-IN" sz="2400" dirty="0">
              <a:solidFill>
                <a:srgbClr val="C00000"/>
              </a:solidFill>
              <a:latin typeface="Arial Narrow" panose="020B0606020202030204" pitchFamily="34" charset="0"/>
            </a:endParaRPr>
          </a:p>
        </p:txBody>
      </p:sp>
      <p:pic>
        <p:nvPicPr>
          <p:cNvPr id="44" name="Picture 43">
            <a:extLst>
              <a:ext uri="{FF2B5EF4-FFF2-40B4-BE49-F238E27FC236}">
                <a16:creationId xmlns:a16="http://schemas.microsoft.com/office/drawing/2014/main" id="{7B889031-1E8E-3F8A-5970-3CB63AEFE245}"/>
              </a:ext>
            </a:extLst>
          </p:cNvPr>
          <p:cNvPicPr>
            <a:picLocks noChangeAspect="1"/>
          </p:cNvPicPr>
          <p:nvPr/>
        </p:nvPicPr>
        <p:blipFill>
          <a:blip r:embed="rId2"/>
          <a:srcRect l="9857" t="5713" r="9486" b="6719"/>
          <a:stretch>
            <a:fillRect/>
          </a:stretch>
        </p:blipFill>
        <p:spPr>
          <a:xfrm>
            <a:off x="1170710" y="1424472"/>
            <a:ext cx="5621920" cy="4480595"/>
          </a:xfrm>
          <a:prstGeom prst="rect">
            <a:avLst/>
          </a:prstGeom>
        </p:spPr>
      </p:pic>
      <p:pic>
        <p:nvPicPr>
          <p:cNvPr id="45" name="Picture 44" descr="A diagram of a software flow">
            <a:extLst>
              <a:ext uri="{FF2B5EF4-FFF2-40B4-BE49-F238E27FC236}">
                <a16:creationId xmlns:a16="http://schemas.microsoft.com/office/drawing/2014/main" id="{3A05A971-FD32-DB21-78A4-ACFBA1480B05}"/>
              </a:ext>
            </a:extLst>
          </p:cNvPr>
          <p:cNvPicPr>
            <a:picLocks noChangeAspect="1"/>
          </p:cNvPicPr>
          <p:nvPr/>
        </p:nvPicPr>
        <p:blipFill>
          <a:blip r:embed="rId3">
            <a:extLst>
              <a:ext uri="{28A0092B-C50C-407E-A947-70E740481C1C}">
                <a14:useLocalDpi xmlns:a14="http://schemas.microsoft.com/office/drawing/2010/main" val="0"/>
              </a:ext>
            </a:extLst>
          </a:blip>
          <a:srcRect t="29110" b="18715"/>
          <a:stretch>
            <a:fillRect/>
          </a:stretch>
        </p:blipFill>
        <p:spPr>
          <a:xfrm>
            <a:off x="7042010" y="2473035"/>
            <a:ext cx="4995324" cy="2774373"/>
          </a:xfrm>
          <a:prstGeom prst="rect">
            <a:avLst/>
          </a:prstGeom>
        </p:spPr>
      </p:pic>
    </p:spTree>
    <p:extLst>
      <p:ext uri="{BB962C8B-B14F-4D97-AF65-F5344CB8AC3E}">
        <p14:creationId xmlns:p14="http://schemas.microsoft.com/office/powerpoint/2010/main" val="3463240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D71B34-D08B-4078-F836-1F7C51D25356}"/>
              </a:ext>
            </a:extLst>
          </p:cNvPr>
          <p:cNvSpPr>
            <a:spLocks noGrp="1"/>
          </p:cNvSpPr>
          <p:nvPr>
            <p:ph type="sldNum" sz="quarter" idx="12"/>
          </p:nvPr>
        </p:nvSpPr>
        <p:spPr/>
        <p:txBody>
          <a:bodyPr/>
          <a:lstStyle/>
          <a:p>
            <a:fld id="{35103E41-D638-594C-8347-57CCA9BD2261}" type="slidenum">
              <a:rPr lang="en-US" smtClean="0"/>
              <a:pPr/>
              <a:t>8</a:t>
            </a:fld>
            <a:endParaRPr lang="en-US" dirty="0"/>
          </a:p>
        </p:txBody>
      </p:sp>
      <p:sp>
        <p:nvSpPr>
          <p:cNvPr id="4" name="TextBox 3">
            <a:extLst>
              <a:ext uri="{FF2B5EF4-FFF2-40B4-BE49-F238E27FC236}">
                <a16:creationId xmlns:a16="http://schemas.microsoft.com/office/drawing/2014/main" id="{D03084B4-A20C-2943-FF51-C225D1DCA72B}"/>
              </a:ext>
            </a:extLst>
          </p:cNvPr>
          <p:cNvSpPr txBox="1"/>
          <p:nvPr/>
        </p:nvSpPr>
        <p:spPr>
          <a:xfrm>
            <a:off x="1169043" y="925975"/>
            <a:ext cx="10000527" cy="3354765"/>
          </a:xfrm>
          <a:prstGeom prst="rect">
            <a:avLst/>
          </a:prstGeom>
          <a:noFill/>
        </p:spPr>
        <p:txBody>
          <a:bodyPr wrap="square">
            <a:spAutoFit/>
          </a:bodyPr>
          <a:lstStyle/>
          <a:p>
            <a:pPr algn="l"/>
            <a:r>
              <a:rPr lang="en-IN" sz="3200" b="1" dirty="0">
                <a:solidFill>
                  <a:srgbClr val="C00000"/>
                </a:solidFill>
                <a:latin typeface="Arial Narrow" panose="020B0606020202030204" pitchFamily="34" charset="0"/>
              </a:rPr>
              <a:t>Conclusion:</a:t>
            </a:r>
          </a:p>
          <a:p>
            <a:pPr algn="l"/>
            <a:endParaRPr lang="en-IN" sz="4000" b="1" dirty="0">
              <a:solidFill>
                <a:schemeClr val="accent1"/>
              </a:solidFill>
              <a:latin typeface="Arial Narrow" panose="020B0606020202030204" pitchFamily="34" charset="0"/>
            </a:endParaRPr>
          </a:p>
          <a:p>
            <a:pPr algn="just"/>
            <a:r>
              <a:rPr lang="en-US" sz="2800" dirty="0">
                <a:solidFill>
                  <a:schemeClr val="accent1"/>
                </a:solidFill>
                <a:latin typeface="Arial Narrow" panose="020B0606020202030204" pitchFamily="34" charset="0"/>
                <a:ea typeface="Verdana" pitchFamily="34" charset="0"/>
                <a:cs typeface="Verdana" pitchFamily="34" charset="0"/>
              </a:rPr>
              <a:t>      </a:t>
            </a:r>
            <a:r>
              <a:rPr lang="en-US" sz="2800" dirty="0">
                <a:solidFill>
                  <a:schemeClr val="tx1">
                    <a:lumMod val="95000"/>
                    <a:lumOff val="5000"/>
                  </a:schemeClr>
                </a:solidFill>
                <a:latin typeface="Arial Narrow" panose="020B0606020202030204" pitchFamily="34" charset="0"/>
                <a:ea typeface="Verdana" pitchFamily="34" charset="0"/>
                <a:cs typeface="Verdana" pitchFamily="34" charset="0"/>
              </a:rPr>
              <a:t>Focus Point is more than a productivity tool—it is a mentor, guide, and emotional support system for students. It reduces pressure, builds discipline, and brings clarity into a student’s journey. Through its simple design and AI-powered features, it empowers learners to focus, grow, and succeed with confidence.</a:t>
            </a:r>
            <a:endParaRPr lang="en-IN" sz="2800" dirty="0">
              <a:solidFill>
                <a:schemeClr val="tx1">
                  <a:lumMod val="95000"/>
                  <a:lumOff val="5000"/>
                </a:schemeClr>
              </a:solidFill>
              <a:latin typeface="Arial Narrow" panose="020B0606020202030204" pitchFamily="34" charset="0"/>
              <a:ea typeface="Verdana" pitchFamily="34" charset="0"/>
              <a:cs typeface="Verdana" pitchFamily="34" charset="0"/>
            </a:endParaRPr>
          </a:p>
        </p:txBody>
      </p:sp>
    </p:spTree>
    <p:extLst>
      <p:ext uri="{BB962C8B-B14F-4D97-AF65-F5344CB8AC3E}">
        <p14:creationId xmlns:p14="http://schemas.microsoft.com/office/powerpoint/2010/main" val="96707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FF32A3-5EAE-0BEA-9AFF-3DEA30D8A84E}"/>
              </a:ext>
            </a:extLst>
          </p:cNvPr>
          <p:cNvSpPr>
            <a:spLocks noGrp="1"/>
          </p:cNvSpPr>
          <p:nvPr>
            <p:ph type="sldNum" sz="quarter" idx="12"/>
          </p:nvPr>
        </p:nvSpPr>
        <p:spPr/>
        <p:txBody>
          <a:bodyPr/>
          <a:lstStyle/>
          <a:p>
            <a:fld id="{35103E41-D638-594C-8347-57CCA9BD2261}" type="slidenum">
              <a:rPr lang="en-US" smtClean="0"/>
              <a:pPr/>
              <a:t>9</a:t>
            </a:fld>
            <a:endParaRPr lang="en-US" dirty="0"/>
          </a:p>
        </p:txBody>
      </p:sp>
      <p:sp>
        <p:nvSpPr>
          <p:cNvPr id="3" name="TextBox 2">
            <a:extLst>
              <a:ext uri="{FF2B5EF4-FFF2-40B4-BE49-F238E27FC236}">
                <a16:creationId xmlns:a16="http://schemas.microsoft.com/office/drawing/2014/main" id="{7FB14FF2-A248-74A7-349F-315BDA1E723D}"/>
              </a:ext>
            </a:extLst>
          </p:cNvPr>
          <p:cNvSpPr txBox="1"/>
          <p:nvPr/>
        </p:nvSpPr>
        <p:spPr>
          <a:xfrm>
            <a:off x="3792682" y="2348345"/>
            <a:ext cx="4817918" cy="1107996"/>
          </a:xfrm>
          <a:prstGeom prst="rect">
            <a:avLst/>
          </a:prstGeom>
          <a:noFill/>
        </p:spPr>
        <p:txBody>
          <a:bodyPr wrap="square" rtlCol="0">
            <a:spAutoFit/>
          </a:bodyPr>
          <a:lstStyle/>
          <a:p>
            <a:r>
              <a:rPr lang="en-IN" sz="6600" dirty="0">
                <a:solidFill>
                  <a:srgbClr val="C00000"/>
                </a:solidFill>
                <a:latin typeface="Arial Narrow" panose="020B0606020202030204" pitchFamily="34" charset="0"/>
              </a:rPr>
              <a:t>THANK YOU</a:t>
            </a:r>
          </a:p>
        </p:txBody>
      </p:sp>
    </p:spTree>
    <p:extLst>
      <p:ext uri="{BB962C8B-B14F-4D97-AF65-F5344CB8AC3E}">
        <p14:creationId xmlns:p14="http://schemas.microsoft.com/office/powerpoint/2010/main" val="4275634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8257</TotalTime>
  <Words>589</Words>
  <Application>Microsoft Office PowerPoint</Application>
  <PresentationFormat>Widescreen</PresentationFormat>
  <Paragraphs>60</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Narrow</vt:lpstr>
      <vt:lpstr>Calibri</vt:lpstr>
      <vt:lpstr>Calibri Light</vt:lpstr>
      <vt:lpstr>Wingdings</vt:lpstr>
      <vt:lpstr>Office Theme</vt:lpstr>
      <vt:lpstr>Course:                           Tinkering Lab Course Instructor :          Mr. A. Suraj Kumar. Branch :                          CSD Semester :                       V Batch members:                                          Y. Sai Teja               (23NU1A4461)                                          P. Hema                  (23NU1A4442)                                          K. Kusumanjali       (23NU1A4425)                                          M. Dhamodara rao  (23NU1A4435)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murugadoss doss</dc:creator>
  <cp:lastModifiedBy>SAITEJA YALLA</cp:lastModifiedBy>
  <cp:revision>1335</cp:revision>
  <dcterms:created xsi:type="dcterms:W3CDTF">2021-07-18T16:48:11Z</dcterms:created>
  <dcterms:modified xsi:type="dcterms:W3CDTF">2025-11-20T09:38:24Z</dcterms:modified>
</cp:coreProperties>
</file>